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86" d="100"/>
          <a:sy n="86" d="100"/>
        </p:scale>
        <p:origin x="336"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hyperlink" Target="https://www.kaggle.com/competitions/new-york-city-taxi-fare-prediction/data"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kaggle.com/competitions/new-york-city-taxi-fare-prediction/data" TargetMode="External"/></Relationships>
</file>

<file path=ppt/diagrams/colors1.xml><?xml version="1.0" encoding="utf-8"?>
<dgm:colorsDef xmlns:dgm="http://schemas.openxmlformats.org/drawingml/2006/diagram" xmlns:a="http://schemas.openxmlformats.org/drawingml/2006/main" uniqueId="urn:microsoft.com/office/officeart/2005/8/colors/colorful2#8">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95DBE2-3AFA-47F6-8C97-A85568BCA2B5}" type="doc">
      <dgm:prSet loTypeId="urn:microsoft.com/office/officeart/2008/layout/LinedList" loCatId="list" qsTypeId="urn:microsoft.com/office/officeart/2005/8/quickstyle/simple1#37" qsCatId="simple" csTypeId="urn:microsoft.com/office/officeart/2005/8/colors/colorful2#8" csCatId="colorful"/>
      <dgm:spPr/>
      <dgm:t>
        <a:bodyPr/>
        <a:lstStyle/>
        <a:p>
          <a:endParaRPr lang="en-US"/>
        </a:p>
      </dgm:t>
    </dgm:pt>
    <dgm:pt modelId="{7D9257C5-2701-4B21-925F-D41FE328DA95}">
      <dgm:prSet/>
      <dgm:spPr/>
      <dgm:t>
        <a:bodyPr/>
        <a:lstStyle/>
        <a:p>
          <a:r>
            <a:rPr lang="en-US" b="1" dirty="0"/>
            <a:t>Dataset:</a:t>
          </a:r>
          <a:r>
            <a:rPr lang="en-US" dirty="0"/>
            <a:t> NYC Taxi Fare Prediction (~55 million records, 5.7 GB).</a:t>
          </a:r>
        </a:p>
      </dgm:t>
    </dgm:pt>
    <dgm:pt modelId="{DF09628A-E64C-42BA-86EA-5B6870FAF7DA}" type="parTrans" cxnId="{5F348655-098B-4353-82EA-9A63B6B96486}">
      <dgm:prSet/>
      <dgm:spPr/>
      <dgm:t>
        <a:bodyPr/>
        <a:lstStyle/>
        <a:p>
          <a:endParaRPr lang="en-US"/>
        </a:p>
      </dgm:t>
    </dgm:pt>
    <dgm:pt modelId="{62E2D7F6-230D-46D3-BB0A-B5369DE4E33C}" type="sibTrans" cxnId="{5F348655-098B-4353-82EA-9A63B6B96486}">
      <dgm:prSet/>
      <dgm:spPr/>
      <dgm:t>
        <a:bodyPr/>
        <a:lstStyle/>
        <a:p>
          <a:endParaRPr lang="en-US"/>
        </a:p>
      </dgm:t>
    </dgm:pt>
    <dgm:pt modelId="{BD89E71A-0F62-4005-BB10-EE7357E7B0BC}">
      <dgm:prSet/>
      <dgm:spPr/>
      <dgm:t>
        <a:bodyPr/>
        <a:lstStyle/>
        <a:p>
          <a:r>
            <a:rPr lang="en-US" b="1" dirty="0"/>
            <a:t>Attributes:</a:t>
          </a:r>
          <a:r>
            <a:rPr lang="en-US" dirty="0"/>
            <a:t> Pickup/drop-off locations, date/time, passenger count, and fare amount.</a:t>
          </a:r>
        </a:p>
      </dgm:t>
    </dgm:pt>
    <dgm:pt modelId="{FED2CBDB-7438-4C5A-BEC9-CEE3BC056732}" type="parTrans" cxnId="{77124C96-6FF6-4D63-AFB0-C9E0259D8F23}">
      <dgm:prSet/>
      <dgm:spPr/>
      <dgm:t>
        <a:bodyPr/>
        <a:lstStyle/>
        <a:p>
          <a:endParaRPr lang="en-US"/>
        </a:p>
      </dgm:t>
    </dgm:pt>
    <dgm:pt modelId="{1C50A383-0646-4E66-8FE0-6C514531BBBF}" type="sibTrans" cxnId="{77124C96-6FF6-4D63-AFB0-C9E0259D8F23}">
      <dgm:prSet/>
      <dgm:spPr/>
      <dgm:t>
        <a:bodyPr/>
        <a:lstStyle/>
        <a:p>
          <a:endParaRPr lang="en-US"/>
        </a:p>
      </dgm:t>
    </dgm:pt>
    <dgm:pt modelId="{4F577DB2-EEDE-4009-BDF5-C2FBE9FB8548}">
      <dgm:prSet/>
      <dgm:spPr/>
      <dgm:t>
        <a:bodyPr/>
        <a:lstStyle/>
        <a:p>
          <a:r>
            <a:rPr lang="en-US" b="1"/>
            <a:t>Source:</a:t>
          </a:r>
          <a:r>
            <a:rPr lang="en-US"/>
            <a:t> </a:t>
          </a:r>
          <a:r>
            <a:rPr lang="en-US">
              <a:hlinkClick xmlns:r="http://schemas.openxmlformats.org/officeDocument/2006/relationships" r:id="rId1"/>
            </a:rPr>
            <a:t>Kaggle – NYC Taxi Fare Prediction</a:t>
          </a:r>
          <a:r>
            <a:rPr lang="en-US"/>
            <a:t>, https://www.kaggle.com/competitions/new-york-city-taxi-fare-prediction/data</a:t>
          </a:r>
        </a:p>
      </dgm:t>
    </dgm:pt>
    <dgm:pt modelId="{F89C5869-A7BF-4D68-94A9-6AB4F448B51B}" type="parTrans" cxnId="{08889E0C-0029-4994-BB8C-0A744A2DD74D}">
      <dgm:prSet/>
      <dgm:spPr/>
      <dgm:t>
        <a:bodyPr/>
        <a:lstStyle/>
        <a:p>
          <a:endParaRPr lang="en-US"/>
        </a:p>
      </dgm:t>
    </dgm:pt>
    <dgm:pt modelId="{9BB0B556-01FF-483D-A4DC-1DF37D0E49BF}" type="sibTrans" cxnId="{08889E0C-0029-4994-BB8C-0A744A2DD74D}">
      <dgm:prSet/>
      <dgm:spPr/>
      <dgm:t>
        <a:bodyPr/>
        <a:lstStyle/>
        <a:p>
          <a:endParaRPr lang="en-US"/>
        </a:p>
      </dgm:t>
    </dgm:pt>
    <dgm:pt modelId="{2CACF4F4-27D5-4E7D-B9C1-C1EDDCEB9499}">
      <dgm:prSet/>
      <dgm:spPr/>
      <dgm:t>
        <a:bodyPr/>
        <a:lstStyle/>
        <a:p>
          <a:r>
            <a:rPr lang="en-US" b="1"/>
            <a:t>Collection:</a:t>
          </a:r>
          <a:r>
            <a:rPr lang="en-US"/>
            <a:t> Download the CSV files and process them using PySpark.</a:t>
          </a:r>
        </a:p>
      </dgm:t>
    </dgm:pt>
    <dgm:pt modelId="{20EFAC84-24CA-46AF-8F90-D62D8E0EF42F}" type="parTrans" cxnId="{55A4AC54-2112-4403-A979-7197626E7F1C}">
      <dgm:prSet/>
      <dgm:spPr/>
      <dgm:t>
        <a:bodyPr/>
        <a:lstStyle/>
        <a:p>
          <a:endParaRPr lang="en-US"/>
        </a:p>
      </dgm:t>
    </dgm:pt>
    <dgm:pt modelId="{169B87AB-1FB7-45EA-BD49-F6E48B66A726}" type="sibTrans" cxnId="{55A4AC54-2112-4403-A979-7197626E7F1C}">
      <dgm:prSet/>
      <dgm:spPr/>
      <dgm:t>
        <a:bodyPr/>
        <a:lstStyle/>
        <a:p>
          <a:endParaRPr lang="en-US"/>
        </a:p>
      </dgm:t>
    </dgm:pt>
    <dgm:pt modelId="{108A5208-C580-42AF-A473-34BA8A977DF7}">
      <dgm:prSet/>
      <dgm:spPr/>
      <dgm:t>
        <a:bodyPr/>
        <a:lstStyle/>
        <a:p>
          <a:r>
            <a:rPr lang="en-US" b="1"/>
            <a:t>Estimated Time:</a:t>
          </a:r>
          <a:r>
            <a:rPr lang="en-US"/>
            <a:t> 5–20 minutes to download and a few hours for initial cleaning and preparation.</a:t>
          </a:r>
        </a:p>
      </dgm:t>
    </dgm:pt>
    <dgm:pt modelId="{6B2E6CFA-F27D-42BC-A325-0464447C0C47}" type="parTrans" cxnId="{371CB6A5-0D2D-44CD-B5E6-31E2B6E36BCF}">
      <dgm:prSet/>
      <dgm:spPr/>
      <dgm:t>
        <a:bodyPr/>
        <a:lstStyle/>
        <a:p>
          <a:endParaRPr lang="en-US"/>
        </a:p>
      </dgm:t>
    </dgm:pt>
    <dgm:pt modelId="{01770367-C5CC-4EF0-9368-39573E03D279}" type="sibTrans" cxnId="{371CB6A5-0D2D-44CD-B5E6-31E2B6E36BCF}">
      <dgm:prSet/>
      <dgm:spPr/>
      <dgm:t>
        <a:bodyPr/>
        <a:lstStyle/>
        <a:p>
          <a:endParaRPr lang="en-US"/>
        </a:p>
      </dgm:t>
    </dgm:pt>
    <dgm:pt modelId="{867FB08B-47F8-4606-A047-19772DD096B7}" type="pres">
      <dgm:prSet presAssocID="{DB95DBE2-3AFA-47F6-8C97-A85568BCA2B5}" presName="vert0" presStyleCnt="0">
        <dgm:presLayoutVars>
          <dgm:dir/>
          <dgm:animOne val="branch"/>
          <dgm:animLvl val="lvl"/>
        </dgm:presLayoutVars>
      </dgm:prSet>
      <dgm:spPr/>
    </dgm:pt>
    <dgm:pt modelId="{B5768468-D625-43D0-BE3E-850CD2A6D363}" type="pres">
      <dgm:prSet presAssocID="{7D9257C5-2701-4B21-925F-D41FE328DA95}" presName="thickLine" presStyleLbl="alignNode1" presStyleIdx="0" presStyleCnt="5"/>
      <dgm:spPr/>
    </dgm:pt>
    <dgm:pt modelId="{14E97D13-E02D-4BD3-A773-A155DE1D2F4B}" type="pres">
      <dgm:prSet presAssocID="{7D9257C5-2701-4B21-925F-D41FE328DA95}" presName="horz1" presStyleCnt="0"/>
      <dgm:spPr/>
    </dgm:pt>
    <dgm:pt modelId="{AE852D53-FCFB-460F-A25C-D7C8D0D1115C}" type="pres">
      <dgm:prSet presAssocID="{7D9257C5-2701-4B21-925F-D41FE328DA95}" presName="tx1" presStyleLbl="revTx" presStyleIdx="0" presStyleCnt="5"/>
      <dgm:spPr/>
    </dgm:pt>
    <dgm:pt modelId="{8F2905E8-52E9-44E6-AE1C-442D09909D8B}" type="pres">
      <dgm:prSet presAssocID="{7D9257C5-2701-4B21-925F-D41FE328DA95}" presName="vert1" presStyleCnt="0"/>
      <dgm:spPr/>
    </dgm:pt>
    <dgm:pt modelId="{390FFB12-D814-4990-A19C-D0CAE45F777E}" type="pres">
      <dgm:prSet presAssocID="{BD89E71A-0F62-4005-BB10-EE7357E7B0BC}" presName="thickLine" presStyleLbl="alignNode1" presStyleIdx="1" presStyleCnt="5"/>
      <dgm:spPr/>
    </dgm:pt>
    <dgm:pt modelId="{2C07EF5B-13C4-4D68-9292-F51ACA395602}" type="pres">
      <dgm:prSet presAssocID="{BD89E71A-0F62-4005-BB10-EE7357E7B0BC}" presName="horz1" presStyleCnt="0"/>
      <dgm:spPr/>
    </dgm:pt>
    <dgm:pt modelId="{A8ECE44A-C9DD-478C-853B-1074D6C7627E}" type="pres">
      <dgm:prSet presAssocID="{BD89E71A-0F62-4005-BB10-EE7357E7B0BC}" presName="tx1" presStyleLbl="revTx" presStyleIdx="1" presStyleCnt="5"/>
      <dgm:spPr/>
    </dgm:pt>
    <dgm:pt modelId="{5BDC381B-6995-4E5C-88AF-BFA06FBE613E}" type="pres">
      <dgm:prSet presAssocID="{BD89E71A-0F62-4005-BB10-EE7357E7B0BC}" presName="vert1" presStyleCnt="0"/>
      <dgm:spPr/>
    </dgm:pt>
    <dgm:pt modelId="{768BD806-E11C-45E2-8433-5E0947876C95}" type="pres">
      <dgm:prSet presAssocID="{4F577DB2-EEDE-4009-BDF5-C2FBE9FB8548}" presName="thickLine" presStyleLbl="alignNode1" presStyleIdx="2" presStyleCnt="5"/>
      <dgm:spPr/>
    </dgm:pt>
    <dgm:pt modelId="{B24583CA-67E1-463E-9758-5557B0AEFDE5}" type="pres">
      <dgm:prSet presAssocID="{4F577DB2-EEDE-4009-BDF5-C2FBE9FB8548}" presName="horz1" presStyleCnt="0"/>
      <dgm:spPr/>
    </dgm:pt>
    <dgm:pt modelId="{384A77FB-66A7-40BB-905C-4FE9BF8CDBB3}" type="pres">
      <dgm:prSet presAssocID="{4F577DB2-EEDE-4009-BDF5-C2FBE9FB8548}" presName="tx1" presStyleLbl="revTx" presStyleIdx="2" presStyleCnt="5"/>
      <dgm:spPr/>
    </dgm:pt>
    <dgm:pt modelId="{DDBF1FAB-183F-415F-AB1D-F23C07186ADD}" type="pres">
      <dgm:prSet presAssocID="{4F577DB2-EEDE-4009-BDF5-C2FBE9FB8548}" presName="vert1" presStyleCnt="0"/>
      <dgm:spPr/>
    </dgm:pt>
    <dgm:pt modelId="{8CC0B34D-6191-4236-A09C-65C6C33A5353}" type="pres">
      <dgm:prSet presAssocID="{2CACF4F4-27D5-4E7D-B9C1-C1EDDCEB9499}" presName="thickLine" presStyleLbl="alignNode1" presStyleIdx="3" presStyleCnt="5"/>
      <dgm:spPr/>
    </dgm:pt>
    <dgm:pt modelId="{4691D3D4-E4B8-42E0-BFBA-F88209AB9732}" type="pres">
      <dgm:prSet presAssocID="{2CACF4F4-27D5-4E7D-B9C1-C1EDDCEB9499}" presName="horz1" presStyleCnt="0"/>
      <dgm:spPr/>
    </dgm:pt>
    <dgm:pt modelId="{5A7BE159-2B11-442C-9059-7787854AC22A}" type="pres">
      <dgm:prSet presAssocID="{2CACF4F4-27D5-4E7D-B9C1-C1EDDCEB9499}" presName="tx1" presStyleLbl="revTx" presStyleIdx="3" presStyleCnt="5"/>
      <dgm:spPr/>
    </dgm:pt>
    <dgm:pt modelId="{8713AD33-AF7D-4D2E-BE0F-986B04EB14F8}" type="pres">
      <dgm:prSet presAssocID="{2CACF4F4-27D5-4E7D-B9C1-C1EDDCEB9499}" presName="vert1" presStyleCnt="0"/>
      <dgm:spPr/>
    </dgm:pt>
    <dgm:pt modelId="{A1F1EE08-BE7E-4618-838A-6D5B49C29B3A}" type="pres">
      <dgm:prSet presAssocID="{108A5208-C580-42AF-A473-34BA8A977DF7}" presName="thickLine" presStyleLbl="alignNode1" presStyleIdx="4" presStyleCnt="5"/>
      <dgm:spPr/>
    </dgm:pt>
    <dgm:pt modelId="{9E05EDC6-BC61-4C20-B0D1-9BB173E39BD3}" type="pres">
      <dgm:prSet presAssocID="{108A5208-C580-42AF-A473-34BA8A977DF7}" presName="horz1" presStyleCnt="0"/>
      <dgm:spPr/>
    </dgm:pt>
    <dgm:pt modelId="{F4E5439A-F333-40C5-9543-539FAC30C14A}" type="pres">
      <dgm:prSet presAssocID="{108A5208-C580-42AF-A473-34BA8A977DF7}" presName="tx1" presStyleLbl="revTx" presStyleIdx="4" presStyleCnt="5"/>
      <dgm:spPr/>
    </dgm:pt>
    <dgm:pt modelId="{A6BF3681-13F9-40A1-9D5C-EC628AFC1029}" type="pres">
      <dgm:prSet presAssocID="{108A5208-C580-42AF-A473-34BA8A977DF7}" presName="vert1" presStyleCnt="0"/>
      <dgm:spPr/>
    </dgm:pt>
  </dgm:ptLst>
  <dgm:cxnLst>
    <dgm:cxn modelId="{08889E0C-0029-4994-BB8C-0A744A2DD74D}" srcId="{DB95DBE2-3AFA-47F6-8C97-A85568BCA2B5}" destId="{4F577DB2-EEDE-4009-BDF5-C2FBE9FB8548}" srcOrd="2" destOrd="0" parTransId="{F89C5869-A7BF-4D68-94A9-6AB4F448B51B}" sibTransId="{9BB0B556-01FF-483D-A4DC-1DF37D0E49BF}"/>
    <dgm:cxn modelId="{EA171027-2D05-47D1-A547-92BD5F1E9E55}" type="presOf" srcId="{4F577DB2-EEDE-4009-BDF5-C2FBE9FB8548}" destId="{384A77FB-66A7-40BB-905C-4FE9BF8CDBB3}" srcOrd="0" destOrd="0" presId="urn:microsoft.com/office/officeart/2008/layout/LinedList"/>
    <dgm:cxn modelId="{55A4AC54-2112-4403-A979-7197626E7F1C}" srcId="{DB95DBE2-3AFA-47F6-8C97-A85568BCA2B5}" destId="{2CACF4F4-27D5-4E7D-B9C1-C1EDDCEB9499}" srcOrd="3" destOrd="0" parTransId="{20EFAC84-24CA-46AF-8F90-D62D8E0EF42F}" sibTransId="{169B87AB-1FB7-45EA-BD49-F6E48B66A726}"/>
    <dgm:cxn modelId="{5F348655-098B-4353-82EA-9A63B6B96486}" srcId="{DB95DBE2-3AFA-47F6-8C97-A85568BCA2B5}" destId="{7D9257C5-2701-4B21-925F-D41FE328DA95}" srcOrd="0" destOrd="0" parTransId="{DF09628A-E64C-42BA-86EA-5B6870FAF7DA}" sibTransId="{62E2D7F6-230D-46D3-BB0A-B5369DE4E33C}"/>
    <dgm:cxn modelId="{35A4FD7B-C34B-4416-BAE4-F94DCEF7770A}" type="presOf" srcId="{2CACF4F4-27D5-4E7D-B9C1-C1EDDCEB9499}" destId="{5A7BE159-2B11-442C-9059-7787854AC22A}" srcOrd="0" destOrd="0" presId="urn:microsoft.com/office/officeart/2008/layout/LinedList"/>
    <dgm:cxn modelId="{77124C96-6FF6-4D63-AFB0-C9E0259D8F23}" srcId="{DB95DBE2-3AFA-47F6-8C97-A85568BCA2B5}" destId="{BD89E71A-0F62-4005-BB10-EE7357E7B0BC}" srcOrd="1" destOrd="0" parTransId="{FED2CBDB-7438-4C5A-BEC9-CEE3BC056732}" sibTransId="{1C50A383-0646-4E66-8FE0-6C514531BBBF}"/>
    <dgm:cxn modelId="{371CB6A5-0D2D-44CD-B5E6-31E2B6E36BCF}" srcId="{DB95DBE2-3AFA-47F6-8C97-A85568BCA2B5}" destId="{108A5208-C580-42AF-A473-34BA8A977DF7}" srcOrd="4" destOrd="0" parTransId="{6B2E6CFA-F27D-42BC-A325-0464447C0C47}" sibTransId="{01770367-C5CC-4EF0-9368-39573E03D279}"/>
    <dgm:cxn modelId="{B57AA9AF-1BA1-42A6-A16E-51575A53EA5C}" type="presOf" srcId="{7D9257C5-2701-4B21-925F-D41FE328DA95}" destId="{AE852D53-FCFB-460F-A25C-D7C8D0D1115C}" srcOrd="0" destOrd="0" presId="urn:microsoft.com/office/officeart/2008/layout/LinedList"/>
    <dgm:cxn modelId="{F43BF1AF-2AB4-49D6-92FA-FD7F892C59BA}" type="presOf" srcId="{BD89E71A-0F62-4005-BB10-EE7357E7B0BC}" destId="{A8ECE44A-C9DD-478C-853B-1074D6C7627E}" srcOrd="0" destOrd="0" presId="urn:microsoft.com/office/officeart/2008/layout/LinedList"/>
    <dgm:cxn modelId="{E35B6EBD-6641-4649-99BB-0FC549939E5B}" type="presOf" srcId="{DB95DBE2-3AFA-47F6-8C97-A85568BCA2B5}" destId="{867FB08B-47F8-4606-A047-19772DD096B7}" srcOrd="0" destOrd="0" presId="urn:microsoft.com/office/officeart/2008/layout/LinedList"/>
    <dgm:cxn modelId="{C80A4ED0-7972-4FB2-B4C1-DD7197D23348}" type="presOf" srcId="{108A5208-C580-42AF-A473-34BA8A977DF7}" destId="{F4E5439A-F333-40C5-9543-539FAC30C14A}" srcOrd="0" destOrd="0" presId="urn:microsoft.com/office/officeart/2008/layout/LinedList"/>
    <dgm:cxn modelId="{FBD79442-57A5-4CD8-A5CA-91E8F8DA92AA}" type="presParOf" srcId="{867FB08B-47F8-4606-A047-19772DD096B7}" destId="{B5768468-D625-43D0-BE3E-850CD2A6D363}" srcOrd="0" destOrd="0" presId="urn:microsoft.com/office/officeart/2008/layout/LinedList"/>
    <dgm:cxn modelId="{A5D461DC-2580-4D0A-96F7-32E34257FB46}" type="presParOf" srcId="{867FB08B-47F8-4606-A047-19772DD096B7}" destId="{14E97D13-E02D-4BD3-A773-A155DE1D2F4B}" srcOrd="1" destOrd="0" presId="urn:microsoft.com/office/officeart/2008/layout/LinedList"/>
    <dgm:cxn modelId="{5DEADB6E-62E5-4E3D-A7BB-84A82D284DF0}" type="presParOf" srcId="{14E97D13-E02D-4BD3-A773-A155DE1D2F4B}" destId="{AE852D53-FCFB-460F-A25C-D7C8D0D1115C}" srcOrd="0" destOrd="0" presId="urn:microsoft.com/office/officeart/2008/layout/LinedList"/>
    <dgm:cxn modelId="{CAF72EDD-FD07-4903-AE55-729649DD82EB}" type="presParOf" srcId="{14E97D13-E02D-4BD3-A773-A155DE1D2F4B}" destId="{8F2905E8-52E9-44E6-AE1C-442D09909D8B}" srcOrd="1" destOrd="0" presId="urn:microsoft.com/office/officeart/2008/layout/LinedList"/>
    <dgm:cxn modelId="{2D3CFA02-FF51-405E-B9CF-6B3A11E74A4C}" type="presParOf" srcId="{867FB08B-47F8-4606-A047-19772DD096B7}" destId="{390FFB12-D814-4990-A19C-D0CAE45F777E}" srcOrd="2" destOrd="0" presId="urn:microsoft.com/office/officeart/2008/layout/LinedList"/>
    <dgm:cxn modelId="{0397DB55-B742-4AD0-9D60-C7B6A32E91E4}" type="presParOf" srcId="{867FB08B-47F8-4606-A047-19772DD096B7}" destId="{2C07EF5B-13C4-4D68-9292-F51ACA395602}" srcOrd="3" destOrd="0" presId="urn:microsoft.com/office/officeart/2008/layout/LinedList"/>
    <dgm:cxn modelId="{B9F3B55E-2869-4228-9D32-0A1CEB4DDFC2}" type="presParOf" srcId="{2C07EF5B-13C4-4D68-9292-F51ACA395602}" destId="{A8ECE44A-C9DD-478C-853B-1074D6C7627E}" srcOrd="0" destOrd="0" presId="urn:microsoft.com/office/officeart/2008/layout/LinedList"/>
    <dgm:cxn modelId="{A1BC3E7E-C710-4AAC-B7BF-2D21ED5B8C32}" type="presParOf" srcId="{2C07EF5B-13C4-4D68-9292-F51ACA395602}" destId="{5BDC381B-6995-4E5C-88AF-BFA06FBE613E}" srcOrd="1" destOrd="0" presId="urn:microsoft.com/office/officeart/2008/layout/LinedList"/>
    <dgm:cxn modelId="{38302B9E-D3DD-43C0-83F2-CF4EF6983D9D}" type="presParOf" srcId="{867FB08B-47F8-4606-A047-19772DD096B7}" destId="{768BD806-E11C-45E2-8433-5E0947876C95}" srcOrd="4" destOrd="0" presId="urn:microsoft.com/office/officeart/2008/layout/LinedList"/>
    <dgm:cxn modelId="{01CBF40C-6854-463B-8610-1EE6945552D5}" type="presParOf" srcId="{867FB08B-47F8-4606-A047-19772DD096B7}" destId="{B24583CA-67E1-463E-9758-5557B0AEFDE5}" srcOrd="5" destOrd="0" presId="urn:microsoft.com/office/officeart/2008/layout/LinedList"/>
    <dgm:cxn modelId="{E091AB08-B6FE-475A-ABDB-42348FD2E57C}" type="presParOf" srcId="{B24583CA-67E1-463E-9758-5557B0AEFDE5}" destId="{384A77FB-66A7-40BB-905C-4FE9BF8CDBB3}" srcOrd="0" destOrd="0" presId="urn:microsoft.com/office/officeart/2008/layout/LinedList"/>
    <dgm:cxn modelId="{ABB343FB-040B-4802-8F54-644EE4554570}" type="presParOf" srcId="{B24583CA-67E1-463E-9758-5557B0AEFDE5}" destId="{DDBF1FAB-183F-415F-AB1D-F23C07186ADD}" srcOrd="1" destOrd="0" presId="urn:microsoft.com/office/officeart/2008/layout/LinedList"/>
    <dgm:cxn modelId="{8B6EE26F-DDF3-4FFD-9D5A-049D09A033F7}" type="presParOf" srcId="{867FB08B-47F8-4606-A047-19772DD096B7}" destId="{8CC0B34D-6191-4236-A09C-65C6C33A5353}" srcOrd="6" destOrd="0" presId="urn:microsoft.com/office/officeart/2008/layout/LinedList"/>
    <dgm:cxn modelId="{BFB4C106-B571-444D-8FB5-F7F5A73E33FB}" type="presParOf" srcId="{867FB08B-47F8-4606-A047-19772DD096B7}" destId="{4691D3D4-E4B8-42E0-BFBA-F88209AB9732}" srcOrd="7" destOrd="0" presId="urn:microsoft.com/office/officeart/2008/layout/LinedList"/>
    <dgm:cxn modelId="{03D53D88-608A-4BFD-A83A-7F9901CCC275}" type="presParOf" srcId="{4691D3D4-E4B8-42E0-BFBA-F88209AB9732}" destId="{5A7BE159-2B11-442C-9059-7787854AC22A}" srcOrd="0" destOrd="0" presId="urn:microsoft.com/office/officeart/2008/layout/LinedList"/>
    <dgm:cxn modelId="{F3BD0532-A7E6-4033-B7A3-8EFDC1779454}" type="presParOf" srcId="{4691D3D4-E4B8-42E0-BFBA-F88209AB9732}" destId="{8713AD33-AF7D-4D2E-BE0F-986B04EB14F8}" srcOrd="1" destOrd="0" presId="urn:microsoft.com/office/officeart/2008/layout/LinedList"/>
    <dgm:cxn modelId="{49C11F79-EE53-4470-A46B-EDADA0966972}" type="presParOf" srcId="{867FB08B-47F8-4606-A047-19772DD096B7}" destId="{A1F1EE08-BE7E-4618-838A-6D5B49C29B3A}" srcOrd="8" destOrd="0" presId="urn:microsoft.com/office/officeart/2008/layout/LinedList"/>
    <dgm:cxn modelId="{E7EB57E9-DBA2-41A0-9B3B-151B77FF1AB8}" type="presParOf" srcId="{867FB08B-47F8-4606-A047-19772DD096B7}" destId="{9E05EDC6-BC61-4C20-B0D1-9BB173E39BD3}" srcOrd="9" destOrd="0" presId="urn:microsoft.com/office/officeart/2008/layout/LinedList"/>
    <dgm:cxn modelId="{B7153ADF-3254-4DA4-ACA2-063EB52011CB}" type="presParOf" srcId="{9E05EDC6-BC61-4C20-B0D1-9BB173E39BD3}" destId="{F4E5439A-F333-40C5-9543-539FAC30C14A}" srcOrd="0" destOrd="0" presId="urn:microsoft.com/office/officeart/2008/layout/LinedList"/>
    <dgm:cxn modelId="{3F9575BA-EEDB-4D59-A7AE-0FB42244FE59}" type="presParOf" srcId="{9E05EDC6-BC61-4C20-B0D1-9BB173E39BD3}" destId="{A6BF3681-13F9-40A1-9D5C-EC628AFC10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68468-D625-43D0-BE3E-850CD2A6D363}">
      <dsp:nvSpPr>
        <dsp:cNvPr id="0" name=""/>
        <dsp:cNvSpPr/>
      </dsp:nvSpPr>
      <dsp:spPr>
        <a:xfrm>
          <a:off x="0" y="511"/>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852D53-FCFB-460F-A25C-D7C8D0D1115C}">
      <dsp:nvSpPr>
        <dsp:cNvPr id="0" name=""/>
        <dsp:cNvSpPr/>
      </dsp:nvSpPr>
      <dsp:spPr>
        <a:xfrm>
          <a:off x="0" y="511"/>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Dataset:</a:t>
          </a:r>
          <a:r>
            <a:rPr lang="en-US" sz="2300" kern="1200" dirty="0"/>
            <a:t> NYC Taxi Fare Prediction (~55 million records, 5.7 GB).</a:t>
          </a:r>
        </a:p>
      </dsp:txBody>
      <dsp:txXfrm>
        <a:off x="0" y="511"/>
        <a:ext cx="10927829" cy="838356"/>
      </dsp:txXfrm>
    </dsp:sp>
    <dsp:sp modelId="{390FFB12-D814-4990-A19C-D0CAE45F777E}">
      <dsp:nvSpPr>
        <dsp:cNvPr id="0" name=""/>
        <dsp:cNvSpPr/>
      </dsp:nvSpPr>
      <dsp:spPr>
        <a:xfrm>
          <a:off x="0" y="838868"/>
          <a:ext cx="10927829"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ECE44A-C9DD-478C-853B-1074D6C7627E}">
      <dsp:nvSpPr>
        <dsp:cNvPr id="0" name=""/>
        <dsp:cNvSpPr/>
      </dsp:nvSpPr>
      <dsp:spPr>
        <a:xfrm>
          <a:off x="0" y="838868"/>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Attributes:</a:t>
          </a:r>
          <a:r>
            <a:rPr lang="en-US" sz="2300" kern="1200" dirty="0"/>
            <a:t> Pickup/drop-off locations, date/time, passenger count, and fare amount.</a:t>
          </a:r>
        </a:p>
      </dsp:txBody>
      <dsp:txXfrm>
        <a:off x="0" y="838868"/>
        <a:ext cx="10927829" cy="838356"/>
      </dsp:txXfrm>
    </dsp:sp>
    <dsp:sp modelId="{768BD806-E11C-45E2-8433-5E0947876C95}">
      <dsp:nvSpPr>
        <dsp:cNvPr id="0" name=""/>
        <dsp:cNvSpPr/>
      </dsp:nvSpPr>
      <dsp:spPr>
        <a:xfrm>
          <a:off x="0" y="1677224"/>
          <a:ext cx="10927829"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4A77FB-66A7-40BB-905C-4FE9BF8CDBB3}">
      <dsp:nvSpPr>
        <dsp:cNvPr id="0" name=""/>
        <dsp:cNvSpPr/>
      </dsp:nvSpPr>
      <dsp:spPr>
        <a:xfrm>
          <a:off x="0" y="1677224"/>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Source:</a:t>
          </a:r>
          <a:r>
            <a:rPr lang="en-US" sz="2300" kern="1200"/>
            <a:t> </a:t>
          </a:r>
          <a:r>
            <a:rPr lang="en-US" sz="2300" kern="1200">
              <a:hlinkClick xmlns:r="http://schemas.openxmlformats.org/officeDocument/2006/relationships" r:id="rId1"/>
            </a:rPr>
            <a:t>Kaggle – NYC Taxi Fare Prediction</a:t>
          </a:r>
          <a:r>
            <a:rPr lang="en-US" sz="2300" kern="1200"/>
            <a:t>, https://www.kaggle.com/competitions/new-york-city-taxi-fare-prediction/data</a:t>
          </a:r>
        </a:p>
      </dsp:txBody>
      <dsp:txXfrm>
        <a:off x="0" y="1677224"/>
        <a:ext cx="10927829" cy="838356"/>
      </dsp:txXfrm>
    </dsp:sp>
    <dsp:sp modelId="{8CC0B34D-6191-4236-A09C-65C6C33A5353}">
      <dsp:nvSpPr>
        <dsp:cNvPr id="0" name=""/>
        <dsp:cNvSpPr/>
      </dsp:nvSpPr>
      <dsp:spPr>
        <a:xfrm>
          <a:off x="0" y="2515580"/>
          <a:ext cx="10927829"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7BE159-2B11-442C-9059-7787854AC22A}">
      <dsp:nvSpPr>
        <dsp:cNvPr id="0" name=""/>
        <dsp:cNvSpPr/>
      </dsp:nvSpPr>
      <dsp:spPr>
        <a:xfrm>
          <a:off x="0" y="2515580"/>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Collection:</a:t>
          </a:r>
          <a:r>
            <a:rPr lang="en-US" sz="2300" kern="1200"/>
            <a:t> Download the CSV files and process them using PySpark.</a:t>
          </a:r>
        </a:p>
      </dsp:txBody>
      <dsp:txXfrm>
        <a:off x="0" y="2515580"/>
        <a:ext cx="10927829" cy="838356"/>
      </dsp:txXfrm>
    </dsp:sp>
    <dsp:sp modelId="{A1F1EE08-BE7E-4618-838A-6D5B49C29B3A}">
      <dsp:nvSpPr>
        <dsp:cNvPr id="0" name=""/>
        <dsp:cNvSpPr/>
      </dsp:nvSpPr>
      <dsp:spPr>
        <a:xfrm>
          <a:off x="0" y="3353936"/>
          <a:ext cx="10927829"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E5439A-F333-40C5-9543-539FAC30C14A}">
      <dsp:nvSpPr>
        <dsp:cNvPr id="0" name=""/>
        <dsp:cNvSpPr/>
      </dsp:nvSpPr>
      <dsp:spPr>
        <a:xfrm>
          <a:off x="0" y="3353936"/>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Estimated Time:</a:t>
          </a:r>
          <a:r>
            <a:rPr lang="en-US" sz="2300" kern="1200"/>
            <a:t> 5–20 minutes to download and a few hours for initial cleaning and preparation.</a:t>
          </a:r>
        </a:p>
      </dsp:txBody>
      <dsp:txXfrm>
        <a:off x="0" y="3353936"/>
        <a:ext cx="10927829" cy="83835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DBBF-1127-30DF-78A4-A7558C4F65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6A0562-927A-FC64-385F-E4D01769A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013D53-4433-AE93-FAD8-32F3E3218DA5}"/>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5" name="Footer Placeholder 4">
            <a:extLst>
              <a:ext uri="{FF2B5EF4-FFF2-40B4-BE49-F238E27FC236}">
                <a16:creationId xmlns:a16="http://schemas.microsoft.com/office/drawing/2014/main" id="{C3B1A94C-94ED-C9C3-3C6E-C7E10706A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ED1B4-B89D-FD87-121F-9310935F3BC6}"/>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0786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F1F4-7C2A-CD2C-651D-6DE6E13DE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F3F503-D45F-ED19-7C1B-4953907D43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3255F-2559-4364-0F8F-0F5757E1AE83}"/>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5" name="Footer Placeholder 4">
            <a:extLst>
              <a:ext uri="{FF2B5EF4-FFF2-40B4-BE49-F238E27FC236}">
                <a16:creationId xmlns:a16="http://schemas.microsoft.com/office/drawing/2014/main" id="{15C82B8E-977C-FEA7-6297-BE3AEF43F2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84267-BFFB-C433-E52B-56EF3F9EABAD}"/>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40462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FE98-5077-16D2-B4DA-FC20267B5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1DAF1F-2255-566D-D7F0-E5307D25D9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9836AA-0DA0-F7EF-8487-F771D45B2843}"/>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5" name="Footer Placeholder 4">
            <a:extLst>
              <a:ext uri="{FF2B5EF4-FFF2-40B4-BE49-F238E27FC236}">
                <a16:creationId xmlns:a16="http://schemas.microsoft.com/office/drawing/2014/main" id="{FB8D4E88-02DE-83DA-2F5B-F7B5ACB2C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7E64CA-CF13-4DA0-25F7-DD19E2723E77}"/>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507091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B09D-4F15-656D-97FF-51BDB94AC4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DC279-7482-13C2-DFE3-54A3A6B994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1C1520-080C-F47B-91D6-3B4601ED9C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33891F-6E6A-F5C3-80DE-46900214B308}"/>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6" name="Footer Placeholder 5">
            <a:extLst>
              <a:ext uri="{FF2B5EF4-FFF2-40B4-BE49-F238E27FC236}">
                <a16:creationId xmlns:a16="http://schemas.microsoft.com/office/drawing/2014/main" id="{78211EC4-41C3-4D69-FB39-4D11A23BE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FB59DE-BF13-EEB7-9A0A-E700170FA145}"/>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66904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BA88-5D23-23F4-C5B8-551E6A2153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6EA2F6-6B38-B937-EF32-25DFF4D9D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715AB4-0124-F9F8-F09D-2BC464C95B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145179-9C0A-8B7E-E7B2-86FB36E6C9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DF341F-2991-8FFA-5228-245DEEC7CF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DB7C89-665E-AE8E-DF58-20A16C12C40C}"/>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8" name="Footer Placeholder 7">
            <a:extLst>
              <a:ext uri="{FF2B5EF4-FFF2-40B4-BE49-F238E27FC236}">
                <a16:creationId xmlns:a16="http://schemas.microsoft.com/office/drawing/2014/main" id="{3C2924E9-6DB6-B979-D460-D4ABB440D3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914A53-3FE0-DED3-9B4F-3B4DECFF0F6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548107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A6F2-5FDF-96EC-63F1-0EBDFA1D50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014E4D-27D7-70F7-A405-0417B9A79353}"/>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4" name="Footer Placeholder 3">
            <a:extLst>
              <a:ext uri="{FF2B5EF4-FFF2-40B4-BE49-F238E27FC236}">
                <a16:creationId xmlns:a16="http://schemas.microsoft.com/office/drawing/2014/main" id="{A02B6864-272E-FBBB-D395-0B02FA4A78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341E9C-84CE-53A9-9C1F-F1ADDDDA2AE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24045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2D3318-8B40-2931-D5CE-A908E8017323}"/>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3" name="Footer Placeholder 2">
            <a:extLst>
              <a:ext uri="{FF2B5EF4-FFF2-40B4-BE49-F238E27FC236}">
                <a16:creationId xmlns:a16="http://schemas.microsoft.com/office/drawing/2014/main" id="{57AE424B-4F98-E515-D16C-9A68149691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4B4680-66A0-1CD7-C8F9-B879245C769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2932026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39EC-C2CA-A923-701E-43B007F09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9E0029-1D01-990D-2661-E88ECCD8C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959814-EA3B-DEB3-332B-2D9467764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2A916-2A10-C721-BE87-742DA1A71694}"/>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6" name="Footer Placeholder 5">
            <a:extLst>
              <a:ext uri="{FF2B5EF4-FFF2-40B4-BE49-F238E27FC236}">
                <a16:creationId xmlns:a16="http://schemas.microsoft.com/office/drawing/2014/main" id="{817C7B84-D943-9136-8A12-32612169F5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A473A5-B50E-D992-8D05-98F6B73CF0F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078388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4D9D-11AA-3FF0-C33F-ED43026C4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F768ED-812B-6A3E-CFB7-F6D34AAE31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76D53-5825-3173-4764-4A8A50DEF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19093-6729-C3B7-902C-81A2C0C9506E}"/>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6" name="Footer Placeholder 5">
            <a:extLst>
              <a:ext uri="{FF2B5EF4-FFF2-40B4-BE49-F238E27FC236}">
                <a16:creationId xmlns:a16="http://schemas.microsoft.com/office/drawing/2014/main" id="{C9272325-FC09-D0BB-74DA-B2E68D2A2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1EA30-D63D-EE09-AD09-F0E9C9B60C04}"/>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97834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B6D0-6166-52B1-91CF-2813781554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8BB93A-B97C-344E-B5B3-B7A4CD32C8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ADD32-D2AE-FBEB-6B7B-18C196A1ABDD}"/>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5" name="Footer Placeholder 4">
            <a:extLst>
              <a:ext uri="{FF2B5EF4-FFF2-40B4-BE49-F238E27FC236}">
                <a16:creationId xmlns:a16="http://schemas.microsoft.com/office/drawing/2014/main" id="{DE95D451-F65C-C053-DEAD-353DB5E98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71327-07AD-A899-7DF7-0B2E1011385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084822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D2FF9-ACAC-CCA2-DE2D-51465BC543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B4DE26-C2B8-2A49-E0FF-1B82B86E3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B3EF3-2CA1-A702-739D-50CAA76E2BEA}"/>
              </a:ext>
            </a:extLst>
          </p:cNvPr>
          <p:cNvSpPr>
            <a:spLocks noGrp="1"/>
          </p:cNvSpPr>
          <p:nvPr>
            <p:ph type="dt" sz="half" idx="10"/>
          </p:nvPr>
        </p:nvSpPr>
        <p:spPr/>
        <p:txBody>
          <a:bodyPr/>
          <a:lstStyle/>
          <a:p>
            <a:fld id="{DE86579E-4F9A-4800-AB75-5DEF5CC682E2}" type="datetimeFigureOut">
              <a:rPr lang="en-US" smtClean="0"/>
              <a:t>10/16/2026</a:t>
            </a:fld>
            <a:endParaRPr lang="en-US"/>
          </a:p>
        </p:txBody>
      </p:sp>
      <p:sp>
        <p:nvSpPr>
          <p:cNvPr id="5" name="Footer Placeholder 4">
            <a:extLst>
              <a:ext uri="{FF2B5EF4-FFF2-40B4-BE49-F238E27FC236}">
                <a16:creationId xmlns:a16="http://schemas.microsoft.com/office/drawing/2014/main" id="{44F1E8C2-E1F1-7192-2537-4E6288547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724DA-C4BB-4096-F998-08431C694394}"/>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2592822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98E85B-7DA5-A5B1-8538-3444D8671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4FDE1F-9B57-EBED-9381-5F0899454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EB9AED-F4BD-41CC-E9D7-97598D8C3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86579E-4F9A-4800-AB75-5DEF5CC682E2}" type="datetimeFigureOut">
              <a:rPr lang="en-US" smtClean="0"/>
              <a:t>10/16/2026</a:t>
            </a:fld>
            <a:endParaRPr lang="en-US"/>
          </a:p>
        </p:txBody>
      </p:sp>
      <p:sp>
        <p:nvSpPr>
          <p:cNvPr id="5" name="Footer Placeholder 4">
            <a:extLst>
              <a:ext uri="{FF2B5EF4-FFF2-40B4-BE49-F238E27FC236}">
                <a16:creationId xmlns:a16="http://schemas.microsoft.com/office/drawing/2014/main" id="{3F20A758-9A8D-C955-093D-3592696200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06FDCA-8C8A-5F8C-300C-145EF8888B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40147F-94FF-485E-8EAF-0E8F92619629}" type="slidenum">
              <a:rPr lang="en-US" smtClean="0"/>
              <a:t>‹#›</a:t>
            </a:fld>
            <a:endParaRPr lang="en-US"/>
          </a:p>
        </p:txBody>
      </p:sp>
    </p:spTree>
    <p:extLst>
      <p:ext uri="{BB962C8B-B14F-4D97-AF65-F5344CB8AC3E}">
        <p14:creationId xmlns:p14="http://schemas.microsoft.com/office/powerpoint/2010/main" val="2031621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regenerativetoday.com/learn-to-formulate-good-research-question-for-efficient-statistical-analysi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44A58B-51A9-8322-BF29-88A9D323975B}"/>
              </a:ext>
            </a:extLst>
          </p:cNvPr>
          <p:cNvSpPr>
            <a:spLocks noGrp="1"/>
          </p:cNvSpPr>
          <p:nvPr>
            <p:ph type="ctrTitle"/>
          </p:nvPr>
        </p:nvSpPr>
        <p:spPr>
          <a:xfrm>
            <a:off x="972434" y="2151516"/>
            <a:ext cx="4270588" cy="5576770"/>
          </a:xfrm>
        </p:spPr>
        <p:txBody>
          <a:bodyPr vert="horz" lIns="91440" tIns="45720" rIns="91440" bIns="45720" rtlCol="0" anchor="t">
            <a:normAutofit/>
          </a:bodyPr>
          <a:lstStyle/>
          <a:p>
            <a:pPr algn="l"/>
            <a:r>
              <a:rPr lang="en-US" sz="6600" b="1" kern="1200" dirty="0">
                <a:solidFill>
                  <a:schemeClr val="bg1"/>
                </a:solidFill>
                <a:latin typeface="+mj-lt"/>
                <a:ea typeface="+mj-ea"/>
                <a:cs typeface="+mj-cs"/>
              </a:rPr>
              <a:t>Milestone 1 Proposal</a:t>
            </a:r>
            <a:endParaRPr lang="en-US" sz="6600" kern="1200" dirty="0">
              <a:solidFill>
                <a:schemeClr val="bg1"/>
              </a:solidFill>
              <a:latin typeface="+mj-lt"/>
              <a:ea typeface="+mj-ea"/>
              <a:cs typeface="+mj-cs"/>
            </a:endParaRPr>
          </a:p>
        </p:txBody>
      </p:sp>
      <p:sp>
        <p:nvSpPr>
          <p:cNvPr id="79" name="Rectangle 7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FB7020F-3785-AD9F-1207-97D5B1390743}"/>
              </a:ext>
            </a:extLst>
          </p:cNvPr>
          <p:cNvSpPr>
            <a:spLocks noGrp="1"/>
          </p:cNvSpPr>
          <p:nvPr>
            <p:ph type="subTitle" idx="1"/>
          </p:nvPr>
        </p:nvSpPr>
        <p:spPr>
          <a:xfrm>
            <a:off x="6496443" y="1172318"/>
            <a:ext cx="4310700" cy="5335059"/>
          </a:xfrm>
        </p:spPr>
        <p:txBody>
          <a:bodyPr vert="horz" lIns="91440" tIns="45720" rIns="91440" bIns="45720" rtlCol="0">
            <a:normAutofit/>
          </a:bodyPr>
          <a:lstStyle/>
          <a:p>
            <a:pPr algn="l"/>
            <a:r>
              <a:rPr lang="en-US" b="1" dirty="0"/>
              <a:t>Group Name:</a:t>
            </a:r>
          </a:p>
          <a:p>
            <a:pPr algn="l"/>
            <a:r>
              <a:rPr lang="en-US" dirty="0"/>
              <a:t>Data </a:t>
            </a:r>
            <a:r>
              <a:rPr lang="en-US" dirty="0" err="1"/>
              <a:t>Minerz</a:t>
            </a:r>
            <a:endParaRPr lang="en-US" dirty="0"/>
          </a:p>
          <a:p>
            <a:pPr indent="-228600" algn="l">
              <a:buFont typeface="Arial" panose="020B0604020202020204" pitchFamily="34" charset="0"/>
              <a:buChar char="•"/>
            </a:pPr>
            <a:endParaRPr lang="en-US" dirty="0"/>
          </a:p>
          <a:p>
            <a:pPr algn="l"/>
            <a:r>
              <a:rPr lang="en-US" b="1" dirty="0"/>
              <a:t>Participants:</a:t>
            </a:r>
          </a:p>
          <a:p>
            <a:pPr algn="l"/>
            <a:r>
              <a:rPr lang="en-US" dirty="0"/>
              <a:t>Muhammad Khan(mkhan408)</a:t>
            </a:r>
          </a:p>
          <a:p>
            <a:pPr algn="l"/>
            <a:r>
              <a:rPr lang="en-US" dirty="0" err="1"/>
              <a:t>Omais</a:t>
            </a:r>
            <a:r>
              <a:rPr lang="en-US" dirty="0"/>
              <a:t> Ahmed(oahme4),</a:t>
            </a:r>
          </a:p>
          <a:p>
            <a:pPr algn="l"/>
            <a:r>
              <a:rPr lang="en-US" dirty="0"/>
              <a:t>Joshua Zacharia(</a:t>
            </a:r>
            <a:r>
              <a:rPr lang="en-US" dirty="0" err="1"/>
              <a:t>jzach</a:t>
            </a:r>
            <a:r>
              <a:rPr lang="en-US" dirty="0"/>
              <a:t>)</a:t>
            </a:r>
          </a:p>
          <a:p>
            <a:pPr algn="l"/>
            <a:r>
              <a:rPr lang="en-US" dirty="0" err="1"/>
              <a:t>Ruiyi</a:t>
            </a:r>
            <a:r>
              <a:rPr lang="en-US" dirty="0"/>
              <a:t> Wu(</a:t>
            </a:r>
            <a:r>
              <a:rPr lang="en-US" dirty="0" err="1"/>
              <a:t>wruiy</a:t>
            </a:r>
            <a:r>
              <a:rPr lang="en-US" dirty="0"/>
              <a:t>)</a:t>
            </a:r>
          </a:p>
          <a:p>
            <a:pPr indent="-228600" algn="l">
              <a:buFont typeface="Arial" panose="020B0604020202020204" pitchFamily="34" charset="0"/>
              <a:buChar char="•"/>
            </a:pPr>
            <a:endParaRPr lang="en-US" dirty="0"/>
          </a:p>
          <a:p>
            <a:pPr indent="-228600" algn="l">
              <a:buFont typeface="Arial" panose="020B0604020202020204" pitchFamily="34" charset="0"/>
              <a:buChar char="•"/>
            </a:pPr>
            <a:endParaRPr lang="en-US" dirty="0"/>
          </a:p>
        </p:txBody>
      </p:sp>
    </p:spTree>
    <p:extLst>
      <p:ext uri="{BB962C8B-B14F-4D97-AF65-F5344CB8AC3E}">
        <p14:creationId xmlns:p14="http://schemas.microsoft.com/office/powerpoint/2010/main" val="96034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8EBE6-9EBC-D14D-DE9A-91CF298F181E}"/>
              </a:ext>
            </a:extLst>
          </p:cNvPr>
          <p:cNvSpPr>
            <a:spLocks noGrp="1"/>
          </p:cNvSpPr>
          <p:nvPr>
            <p:ph type="title"/>
          </p:nvPr>
        </p:nvSpPr>
        <p:spPr>
          <a:xfrm>
            <a:off x="761800" y="762001"/>
            <a:ext cx="5334197" cy="1708242"/>
          </a:xfrm>
        </p:spPr>
        <p:txBody>
          <a:bodyPr anchor="ctr">
            <a:normAutofit/>
          </a:bodyPr>
          <a:lstStyle/>
          <a:p>
            <a:r>
              <a:rPr lang="en-US" sz="4000" dirty="0"/>
              <a:t>Problem and Goal</a:t>
            </a:r>
          </a:p>
        </p:txBody>
      </p:sp>
      <p:sp>
        <p:nvSpPr>
          <p:cNvPr id="3" name="Content Placeholder 2">
            <a:extLst>
              <a:ext uri="{FF2B5EF4-FFF2-40B4-BE49-F238E27FC236}">
                <a16:creationId xmlns:a16="http://schemas.microsoft.com/office/drawing/2014/main" id="{8D82F94E-07A3-84FC-1605-7F334B2F0B68}"/>
              </a:ext>
            </a:extLst>
          </p:cNvPr>
          <p:cNvSpPr>
            <a:spLocks noGrp="1"/>
          </p:cNvSpPr>
          <p:nvPr>
            <p:ph idx="1"/>
          </p:nvPr>
        </p:nvSpPr>
        <p:spPr>
          <a:xfrm>
            <a:off x="761800" y="2470244"/>
            <a:ext cx="5334197" cy="3769835"/>
          </a:xfrm>
        </p:spPr>
        <p:txBody>
          <a:bodyPr anchor="ctr">
            <a:normAutofit/>
          </a:bodyPr>
          <a:lstStyle/>
          <a:p>
            <a:pPr marL="0" indent="0">
              <a:buNone/>
            </a:pPr>
            <a:r>
              <a:rPr lang="en-US" sz="1400" b="1" dirty="0"/>
              <a:t>Research Question:</a:t>
            </a:r>
          </a:p>
          <a:p>
            <a:pPr marL="0" indent="0">
              <a:buNone/>
            </a:pPr>
            <a:r>
              <a:rPr lang="en-US" sz="1400" dirty="0"/>
              <a:t>What role does the distance of the trip, the time at which the trip was picked up and the number of passengers in the taxi play in determining the fare in New York city? What is the degree of accuracy of such prediction using machine learning?</a:t>
            </a:r>
          </a:p>
          <a:p>
            <a:pPr marL="0" indent="0">
              <a:buNone/>
            </a:pPr>
            <a:endParaRPr lang="en-US" sz="1400" dirty="0"/>
          </a:p>
          <a:p>
            <a:pPr marL="0" indent="0">
              <a:buNone/>
            </a:pPr>
            <a:r>
              <a:rPr lang="en-US" sz="1400" b="1" dirty="0"/>
              <a:t>Why is it important?</a:t>
            </a:r>
          </a:p>
          <a:p>
            <a:pPr marL="0" indent="0">
              <a:buNone/>
            </a:pPr>
            <a:r>
              <a:rPr lang="en-US" sz="1400" dirty="0"/>
              <a:t>The cost of the taxi service depends on different parameters and varies greatly. Through the analysis of numerous taxi trips in NYC we will be able to determine the factors affecting taxi fares and create a model of fare prediction.</a:t>
            </a:r>
          </a:p>
          <a:p>
            <a:pPr marL="0" indent="0">
              <a:buNone/>
            </a:pPr>
            <a:endParaRPr lang="en-US" sz="1300" dirty="0"/>
          </a:p>
          <a:p>
            <a:pPr marL="0" indent="0">
              <a:buNone/>
            </a:pPr>
            <a:r>
              <a:rPr lang="en-US" sz="800" dirty="0"/>
              <a:t>Reference: Rashida048 (2020). Learn to Formulate Good Research Question For Efficient Statistical Analysis. </a:t>
            </a:r>
            <a:r>
              <a:rPr lang="en-US" sz="800" dirty="0">
                <a:hlinkClick r:id="rId2"/>
              </a:rPr>
              <a:t>https://regenerativetoday.com/learn-to-formulate-good-research-question-for-efficient-statistical-analysis/</a:t>
            </a:r>
            <a:endParaRPr lang="en-US" sz="800" dirty="0"/>
          </a:p>
        </p:txBody>
      </p:sp>
      <p:pic>
        <p:nvPicPr>
          <p:cNvPr id="16" name="Picture 15" descr="A taxi cab sign">
            <a:extLst>
              <a:ext uri="{FF2B5EF4-FFF2-40B4-BE49-F238E27FC236}">
                <a16:creationId xmlns:a16="http://schemas.microsoft.com/office/drawing/2014/main" id="{B3C1E996-3888-33CF-2849-9991BC8DC579}"/>
              </a:ext>
            </a:extLst>
          </p:cNvPr>
          <p:cNvPicPr>
            <a:picLocks noChangeAspect="1"/>
          </p:cNvPicPr>
          <p:nvPr/>
        </p:nvPicPr>
        <p:blipFill>
          <a:blip r:embed="rId3"/>
          <a:srcRect l="11856" r="3630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78575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5119A-CBFE-88B8-195D-04C314ED6410}"/>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Formalization into data mining task </a:t>
            </a:r>
          </a:p>
        </p:txBody>
      </p:sp>
      <p:sp>
        <p:nvSpPr>
          <p:cNvPr id="13" name="Rectangle 1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CC4EFD0-ED4A-C8ED-D011-02B3DB835EB7}"/>
              </a:ext>
            </a:extLst>
          </p:cNvPr>
          <p:cNvSpPr>
            <a:spLocks noGrp="1"/>
          </p:cNvSpPr>
          <p:nvPr>
            <p:ph idx="1"/>
          </p:nvPr>
        </p:nvSpPr>
        <p:spPr>
          <a:xfrm>
            <a:off x="1155548" y="2217343"/>
            <a:ext cx="9880893" cy="3959619"/>
          </a:xfrm>
        </p:spPr>
        <p:txBody>
          <a:bodyPr>
            <a:normAutofit lnSpcReduction="10000"/>
          </a:bodyPr>
          <a:lstStyle/>
          <a:p>
            <a:pPr marL="0" indent="0">
              <a:buNone/>
            </a:pPr>
            <a:r>
              <a:rPr lang="en-US" sz="1700" b="1" dirty="0"/>
              <a:t>Approach &amp; Methods:</a:t>
            </a:r>
          </a:p>
          <a:p>
            <a:pPr marL="0" indent="0">
              <a:buNone/>
            </a:pPr>
            <a:r>
              <a:rPr lang="en-US" sz="1700" dirty="0"/>
              <a:t>Employ </a:t>
            </a:r>
            <a:r>
              <a:rPr lang="en-US" sz="1700" dirty="0" err="1"/>
              <a:t>PySpark</a:t>
            </a:r>
            <a:r>
              <a:rPr lang="en-US" sz="1700" dirty="0"/>
              <a:t> to clean data, partition it, and perform feature engineering.</a:t>
            </a:r>
          </a:p>
          <a:p>
            <a:pPr marL="0" indent="0">
              <a:buNone/>
            </a:pPr>
            <a:r>
              <a:rPr lang="en-US" sz="1700" dirty="0"/>
              <a:t>Regression: linear regression, Lasso regression, and decision tree regression to predict fares.</a:t>
            </a:r>
          </a:p>
          <a:p>
            <a:pPr marL="0" indent="0">
              <a:buNone/>
            </a:pPr>
            <a:r>
              <a:rPr lang="en-US" sz="1700" dirty="0"/>
              <a:t>Classification: Decision Tree and Logistic Regression classify taxi fares as expensive (above $20) or affordable ($20 or less).</a:t>
            </a:r>
          </a:p>
          <a:p>
            <a:pPr marL="0" indent="0">
              <a:buNone/>
            </a:pPr>
            <a:r>
              <a:rPr lang="en-US" sz="1700" dirty="0"/>
              <a:t>Perform model evaluation using RMSE, MAE, accuracy, and F1-score.</a:t>
            </a:r>
          </a:p>
          <a:p>
            <a:pPr marL="0" indent="0">
              <a:buNone/>
            </a:pPr>
            <a:endParaRPr lang="en-US" sz="1700" dirty="0"/>
          </a:p>
          <a:p>
            <a:pPr marL="0" indent="0">
              <a:buNone/>
            </a:pPr>
            <a:r>
              <a:rPr lang="en-US" sz="1700" b="1" dirty="0"/>
              <a:t>Expected Results:</a:t>
            </a:r>
          </a:p>
          <a:p>
            <a:pPr marL="0" indent="0">
              <a:buNone/>
            </a:pPr>
            <a:r>
              <a:rPr lang="en-US" sz="1700" dirty="0"/>
              <a:t>Determine the factors affecting taxi fares.</a:t>
            </a:r>
          </a:p>
          <a:p>
            <a:pPr marL="0" indent="0">
              <a:buNone/>
            </a:pPr>
            <a:r>
              <a:rPr lang="en-US" sz="1700" dirty="0"/>
              <a:t>Compare the performances of regression and classification models.</a:t>
            </a:r>
          </a:p>
          <a:p>
            <a:pPr marL="0" indent="0">
              <a:buNone/>
            </a:pPr>
            <a:r>
              <a:rPr lang="en-US" sz="1700" dirty="0"/>
              <a:t>Develop a </a:t>
            </a:r>
            <a:r>
              <a:rPr lang="en-US" sz="1700" dirty="0" err="1"/>
              <a:t>Streamlit</a:t>
            </a:r>
            <a:r>
              <a:rPr lang="en-US" sz="1700" dirty="0"/>
              <a:t> dashboard for predicting taxi fares, analyzing historical fare patterns, and comparing ML model performance.</a:t>
            </a:r>
          </a:p>
        </p:txBody>
      </p:sp>
    </p:spTree>
    <p:extLst>
      <p:ext uri="{BB962C8B-B14F-4D97-AF65-F5344CB8AC3E}">
        <p14:creationId xmlns:p14="http://schemas.microsoft.com/office/powerpoint/2010/main" val="93256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00120B-C40B-F6FB-4F79-62B68A3192A0}"/>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Data Plan</a:t>
            </a:r>
          </a:p>
        </p:txBody>
      </p:sp>
      <p:graphicFrame>
        <p:nvGraphicFramePr>
          <p:cNvPr id="5" name="Content Placeholder 2">
            <a:extLst>
              <a:ext uri="{FF2B5EF4-FFF2-40B4-BE49-F238E27FC236}">
                <a16:creationId xmlns:a16="http://schemas.microsoft.com/office/drawing/2014/main" id="{FC9BDED8-DE1F-6908-8F51-4B13D4D2A788}"/>
              </a:ext>
            </a:extLst>
          </p:cNvPr>
          <p:cNvGraphicFramePr>
            <a:graphicFrameLocks noGrp="1"/>
          </p:cNvGraphicFramePr>
          <p:nvPr>
            <p:ph idx="1"/>
            <p:extLst>
              <p:ext uri="{D42A27DB-BD31-4B8C-83A1-F6EECF244321}">
                <p14:modId xmlns:p14="http://schemas.microsoft.com/office/powerpoint/2010/main" val="347763741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2164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1688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96507-724C-FAA4-9EED-688E9254ED6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Schedule</a:t>
            </a:r>
          </a:p>
        </p:txBody>
      </p:sp>
      <p:sp>
        <p:nvSpPr>
          <p:cNvPr id="22" name="Rectangle 2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215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2DA0FE4B-6416-AF6B-D9E0-EAF68F7716E7}"/>
              </a:ext>
            </a:extLst>
          </p:cNvPr>
          <p:cNvGraphicFramePr>
            <a:graphicFrameLocks noGrp="1"/>
          </p:cNvGraphicFramePr>
          <p:nvPr>
            <p:ph idx="1"/>
            <p:extLst>
              <p:ext uri="{D42A27DB-BD31-4B8C-83A1-F6EECF244321}">
                <p14:modId xmlns:p14="http://schemas.microsoft.com/office/powerpoint/2010/main" val="519425714"/>
              </p:ext>
            </p:extLst>
          </p:nvPr>
        </p:nvGraphicFramePr>
        <p:xfrm>
          <a:off x="2140316" y="2261336"/>
          <a:ext cx="7920274" cy="3907480"/>
        </p:xfrm>
        <a:graphic>
          <a:graphicData uri="http://schemas.openxmlformats.org/drawingml/2006/table">
            <a:tbl>
              <a:tblPr firstRow="1" bandRow="1">
                <a:noFill/>
                <a:tableStyleId>{073A0DAA-6AF3-43AB-8588-CEC1D06C72B9}</a:tableStyleId>
              </a:tblPr>
              <a:tblGrid>
                <a:gridCol w="1266859">
                  <a:extLst>
                    <a:ext uri="{9D8B030D-6E8A-4147-A177-3AD203B41FA5}">
                      <a16:colId xmlns:a16="http://schemas.microsoft.com/office/drawing/2014/main" val="2826365054"/>
                    </a:ext>
                  </a:extLst>
                </a:gridCol>
                <a:gridCol w="2654908">
                  <a:extLst>
                    <a:ext uri="{9D8B030D-6E8A-4147-A177-3AD203B41FA5}">
                      <a16:colId xmlns:a16="http://schemas.microsoft.com/office/drawing/2014/main" val="1553133992"/>
                    </a:ext>
                  </a:extLst>
                </a:gridCol>
                <a:gridCol w="3998507">
                  <a:extLst>
                    <a:ext uri="{9D8B030D-6E8A-4147-A177-3AD203B41FA5}">
                      <a16:colId xmlns:a16="http://schemas.microsoft.com/office/drawing/2014/main" val="3397757054"/>
                    </a:ext>
                  </a:extLst>
                </a:gridCol>
              </a:tblGrid>
              <a:tr h="499492">
                <a:tc>
                  <a:txBody>
                    <a:bodyPr/>
                    <a:lstStyle/>
                    <a:p>
                      <a:r>
                        <a:rPr lang="en-US" sz="1500">
                          <a:solidFill>
                            <a:schemeClr val="tx1">
                              <a:lumMod val="75000"/>
                              <a:lumOff val="25000"/>
                            </a:schemeClr>
                          </a:solidFill>
                        </a:rPr>
                        <a:t>Date</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r>
                        <a:rPr lang="en-US" sz="1500">
                          <a:solidFill>
                            <a:schemeClr val="tx1">
                              <a:lumMod val="75000"/>
                              <a:lumOff val="25000"/>
                            </a:schemeClr>
                          </a:solidFill>
                        </a:rPr>
                        <a:t>Milestone</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r>
                        <a:rPr lang="en-US" sz="1500">
                          <a:solidFill>
                            <a:schemeClr val="tx1">
                              <a:lumMod val="75000"/>
                              <a:lumOff val="25000"/>
                            </a:schemeClr>
                          </a:solidFill>
                        </a:rPr>
                        <a:t>Deliverables</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3026390412"/>
                  </a:ext>
                </a:extLst>
              </a:tr>
              <a:tr h="416243">
                <a:tc>
                  <a:txBody>
                    <a:bodyPr/>
                    <a:lstStyle/>
                    <a:p>
                      <a:r>
                        <a:rPr lang="en-US" sz="1200">
                          <a:solidFill>
                            <a:schemeClr val="tx1">
                              <a:lumMod val="75000"/>
                              <a:lumOff val="25000"/>
                            </a:schemeClr>
                          </a:solidFill>
                        </a:rPr>
                        <a:t>Oct 13</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Project Proposal</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Finalize research questions, dataset, and project plan.</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508075571"/>
                  </a:ext>
                </a:extLst>
              </a:tr>
              <a:tr h="598349">
                <a:tc>
                  <a:txBody>
                    <a:bodyPr/>
                    <a:lstStyle/>
                    <a:p>
                      <a:r>
                        <a:rPr lang="en-US" sz="1200">
                          <a:solidFill>
                            <a:schemeClr val="tx1">
                              <a:lumMod val="75000"/>
                              <a:lumOff val="25000"/>
                            </a:schemeClr>
                          </a:solidFill>
                        </a:rPr>
                        <a:t>Oct 27</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dirty="0">
                          <a:solidFill>
                            <a:schemeClr val="tx1">
                              <a:lumMod val="75000"/>
                              <a:lumOff val="25000"/>
                            </a:schemeClr>
                          </a:solidFill>
                        </a:rPr>
                        <a:t>Data Preparation</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Clean data, calculate trip distances, and partition data using PySpark.</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643800631"/>
                  </a:ext>
                </a:extLst>
              </a:tr>
              <a:tr h="598349">
                <a:tc>
                  <a:txBody>
                    <a:bodyPr/>
                    <a:lstStyle/>
                    <a:p>
                      <a:r>
                        <a:rPr lang="en-US" sz="1200">
                          <a:solidFill>
                            <a:schemeClr val="tx1">
                              <a:lumMod val="75000"/>
                              <a:lumOff val="25000"/>
                            </a:schemeClr>
                          </a:solidFill>
                        </a:rPr>
                        <a:t>Nov 8</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Intermediate Report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Submit progress report, initial analysis, and preliminary ML results.</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012927973"/>
                  </a:ext>
                </a:extLst>
              </a:tr>
              <a:tr h="598349">
                <a:tc>
                  <a:txBody>
                    <a:bodyPr/>
                    <a:lstStyle/>
                    <a:p>
                      <a:r>
                        <a:rPr lang="en-US" sz="1200">
                          <a:solidFill>
                            <a:schemeClr val="tx1">
                              <a:lumMod val="75000"/>
                              <a:lumOff val="25000"/>
                            </a:schemeClr>
                          </a:solidFill>
                        </a:rPr>
                        <a:t>Nov 24</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Model Development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Complete regression and classification models, compare performance, and build dashboard.</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873809091"/>
                  </a:ext>
                </a:extLst>
              </a:tr>
              <a:tr h="598349">
                <a:tc>
                  <a:txBody>
                    <a:bodyPr/>
                    <a:lstStyle/>
                    <a:p>
                      <a:r>
                        <a:rPr lang="en-US" sz="1200">
                          <a:solidFill>
                            <a:schemeClr val="tx1">
                              <a:lumMod val="75000"/>
                              <a:lumOff val="25000"/>
                            </a:schemeClr>
                          </a:solidFill>
                        </a:rPr>
                        <a:t>Dec 1</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 Presentation</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Present results and demonstrate the fare prediction dashboard.</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989330912"/>
                  </a:ext>
                </a:extLst>
              </a:tr>
              <a:tr h="598349">
                <a:tc>
                  <a:txBody>
                    <a:bodyPr/>
                    <a:lstStyle/>
                    <a:p>
                      <a:r>
                        <a:rPr lang="en-US" sz="1200" dirty="0">
                          <a:solidFill>
                            <a:schemeClr val="tx1">
                              <a:lumMod val="75000"/>
                              <a:lumOff val="25000"/>
                            </a:schemeClr>
                          </a:solidFill>
                        </a:rPr>
                        <a:t>Dec 6</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 Report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dirty="0">
                          <a:solidFill>
                            <a:schemeClr val="tx1">
                              <a:lumMod val="75000"/>
                              <a:lumOff val="25000"/>
                            </a:schemeClr>
                          </a:solidFill>
                        </a:rPr>
                        <a:t>Submit final report, code, dataset, and evaluation results.</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85054564"/>
                  </a:ext>
                </a:extLst>
              </a:tr>
            </a:tbl>
          </a:graphicData>
        </a:graphic>
      </p:graphicFrame>
    </p:spTree>
    <p:extLst>
      <p:ext uri="{BB962C8B-B14F-4D97-AF65-F5344CB8AC3E}">
        <p14:creationId xmlns:p14="http://schemas.microsoft.com/office/powerpoint/2010/main" val="1370016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454</Words>
  <Application>Microsoft Office PowerPoint</Application>
  <PresentationFormat>Widescreen</PresentationFormat>
  <Paragraphs>56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Milestone 1 Proposal</vt:lpstr>
      <vt:lpstr>Problem and Goal</vt:lpstr>
      <vt:lpstr>Formalization into data mining task </vt:lpstr>
      <vt:lpstr>Data Plan</vt:lpstr>
      <vt:lpstr>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Muhammad</dc:creator>
  <cp:lastModifiedBy>Khan, Muhammad</cp:lastModifiedBy>
  <cp:revision>4</cp:revision>
  <dcterms:created xsi:type="dcterms:W3CDTF">2026-10-16T15:46:03Z</dcterms:created>
  <dcterms:modified xsi:type="dcterms:W3CDTF">2026-10-16T16:11:05Z</dcterms:modified>
</cp:coreProperties>
</file>