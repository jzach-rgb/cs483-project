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CEDBD5-E518-48AB-8988-5B1B693E1EF1}" v="1" dt="2026-10-27T17:09:38.7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514"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ua Zacharias" userId="5016f369e6a16fce" providerId="LiveId" clId="{53826729-467E-4B63-9B2C-97EEA2D078B8}"/>
    <pc:docChg chg="delSld modSld sldOrd">
      <pc:chgData name="Joshua Zacharias" userId="5016f369e6a16fce" providerId="LiveId" clId="{53826729-467E-4B63-9B2C-97EEA2D078B8}" dt="2026-10-27T17:10:07.708" v="26" actId="20577"/>
      <pc:docMkLst>
        <pc:docMk/>
      </pc:docMkLst>
      <pc:sldChg chg="modSp mod">
        <pc:chgData name="Joshua Zacharias" userId="5016f369e6a16fce" providerId="LiveId" clId="{53826729-467E-4B63-9B2C-97EEA2D078B8}" dt="2026-10-27T17:10:07.708" v="26" actId="20577"/>
        <pc:sldMkLst>
          <pc:docMk/>
          <pc:sldMk cId="960348896" sldId="256"/>
        </pc:sldMkLst>
        <pc:spChg chg="mod">
          <ac:chgData name="Joshua Zacharias" userId="5016f369e6a16fce" providerId="LiveId" clId="{53826729-467E-4B63-9B2C-97EEA2D078B8}" dt="2026-10-27T17:10:07.708" v="26" actId="20577"/>
          <ac:spMkLst>
            <pc:docMk/>
            <pc:sldMk cId="960348896" sldId="256"/>
            <ac:spMk id="3" creationId="{6FB7020F-3785-AD9F-1207-97D5B1390743}"/>
          </ac:spMkLst>
        </pc:spChg>
      </pc:sldChg>
      <pc:sldChg chg="modSp mod ord">
        <pc:chgData name="Joshua Zacharias" userId="5016f369e6a16fce" providerId="LiveId" clId="{53826729-467E-4B63-9B2C-97EEA2D078B8}" dt="2026-10-27T17:09:39.921" v="5" actId="20577"/>
        <pc:sldMkLst>
          <pc:docMk/>
          <pc:sldMk cId="8516795" sldId="261"/>
        </pc:sldMkLst>
        <pc:spChg chg="mod">
          <ac:chgData name="Joshua Zacharias" userId="5016f369e6a16fce" providerId="LiveId" clId="{53826729-467E-4B63-9B2C-97EEA2D078B8}" dt="2026-10-27T17:09:39.921" v="5" actId="20577"/>
          <ac:spMkLst>
            <pc:docMk/>
            <pc:sldMk cId="8516795" sldId="261"/>
            <ac:spMk id="5" creationId="{A2DE937B-54BD-8003-59C9-E9A01CECEE5C}"/>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hyperlink" Target="https://www.kaggle.com/competitions/new-york-city-taxi-fare-prediction/data"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www.kaggle.com/competitions/new-york-city-taxi-fare-prediction/data" TargetMode="External"/></Relationships>
</file>

<file path=ppt/diagrams/colors1.xml><?xml version="1.0" encoding="utf-8"?>
<dgm:colorsDef xmlns:dgm="http://schemas.openxmlformats.org/drawingml/2006/diagram" xmlns:a="http://schemas.openxmlformats.org/drawingml/2006/main" uniqueId="urn:microsoft.com/office/officeart/2005/8/colors/colorful2#8">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95DBE2-3AFA-47F6-8C97-A85568BCA2B5}" type="doc">
      <dgm:prSet loTypeId="urn:microsoft.com/office/officeart/2008/layout/LinedList" loCatId="list" qsTypeId="urn:microsoft.com/office/officeart/2005/8/quickstyle/simple1#37" qsCatId="simple" csTypeId="urn:microsoft.com/office/officeart/2005/8/colors/colorful2#8" csCatId="colorful"/>
      <dgm:spPr/>
      <dgm:t>
        <a:bodyPr/>
        <a:lstStyle/>
        <a:p>
          <a:endParaRPr lang="en-US"/>
        </a:p>
      </dgm:t>
    </dgm:pt>
    <dgm:pt modelId="{7D9257C5-2701-4B21-925F-D41FE328DA95}">
      <dgm:prSet/>
      <dgm:spPr/>
      <dgm:t>
        <a:bodyPr/>
        <a:lstStyle/>
        <a:p>
          <a:r>
            <a:rPr lang="en-US" b="1"/>
            <a:t>Dataset:</a:t>
          </a:r>
          <a:r>
            <a:rPr lang="en-US"/>
            <a:t> NYC Taxi Fare Prediction (~55 million records, 5.7 GB).</a:t>
          </a:r>
        </a:p>
      </dgm:t>
    </dgm:pt>
    <dgm:pt modelId="{DF09628A-E64C-42BA-86EA-5B6870FAF7DA}" type="parTrans" cxnId="{5F348655-098B-4353-82EA-9A63B6B96486}">
      <dgm:prSet/>
      <dgm:spPr/>
      <dgm:t>
        <a:bodyPr/>
        <a:lstStyle/>
        <a:p>
          <a:endParaRPr lang="en-US"/>
        </a:p>
      </dgm:t>
    </dgm:pt>
    <dgm:pt modelId="{62E2D7F6-230D-46D3-BB0A-B5369DE4E33C}" type="sibTrans" cxnId="{5F348655-098B-4353-82EA-9A63B6B96486}">
      <dgm:prSet/>
      <dgm:spPr/>
      <dgm:t>
        <a:bodyPr/>
        <a:lstStyle/>
        <a:p>
          <a:endParaRPr lang="en-US"/>
        </a:p>
      </dgm:t>
    </dgm:pt>
    <dgm:pt modelId="{BD89E71A-0F62-4005-BB10-EE7357E7B0BC}">
      <dgm:prSet/>
      <dgm:spPr/>
      <dgm:t>
        <a:bodyPr/>
        <a:lstStyle/>
        <a:p>
          <a:r>
            <a:rPr lang="en-US" b="1"/>
            <a:t>Attributes:</a:t>
          </a:r>
          <a:r>
            <a:rPr lang="en-US"/>
            <a:t> Pickup/drop-off locations, date/time, passenger count, and fare amount.</a:t>
          </a:r>
        </a:p>
      </dgm:t>
    </dgm:pt>
    <dgm:pt modelId="{FED2CBDB-7438-4C5A-BEC9-CEE3BC056732}" type="parTrans" cxnId="{77124C96-6FF6-4D63-AFB0-C9E0259D8F23}">
      <dgm:prSet/>
      <dgm:spPr/>
      <dgm:t>
        <a:bodyPr/>
        <a:lstStyle/>
        <a:p>
          <a:endParaRPr lang="en-US"/>
        </a:p>
      </dgm:t>
    </dgm:pt>
    <dgm:pt modelId="{1C50A383-0646-4E66-8FE0-6C514531BBBF}" type="sibTrans" cxnId="{77124C96-6FF6-4D63-AFB0-C9E0259D8F23}">
      <dgm:prSet/>
      <dgm:spPr/>
      <dgm:t>
        <a:bodyPr/>
        <a:lstStyle/>
        <a:p>
          <a:endParaRPr lang="en-US"/>
        </a:p>
      </dgm:t>
    </dgm:pt>
    <dgm:pt modelId="{4F577DB2-EEDE-4009-BDF5-C2FBE9FB8548}">
      <dgm:prSet/>
      <dgm:spPr/>
      <dgm:t>
        <a:bodyPr/>
        <a:lstStyle/>
        <a:p>
          <a:r>
            <a:rPr lang="en-US" b="1"/>
            <a:t>Source:</a:t>
          </a:r>
          <a:r>
            <a:rPr lang="en-US"/>
            <a:t> </a:t>
          </a:r>
          <a:r>
            <a:rPr lang="en-US">
              <a:hlinkClick xmlns:r="http://schemas.openxmlformats.org/officeDocument/2006/relationships" r:id="rId1"/>
            </a:rPr>
            <a:t>Kaggle – NYC Taxi Fare Prediction</a:t>
          </a:r>
          <a:r>
            <a:rPr lang="en-US"/>
            <a:t>, https://www.kaggle.com/competitions/new-york-city-taxi-fare-prediction/data</a:t>
          </a:r>
        </a:p>
      </dgm:t>
    </dgm:pt>
    <dgm:pt modelId="{F89C5869-A7BF-4D68-94A9-6AB4F448B51B}" type="parTrans" cxnId="{08889E0C-0029-4994-BB8C-0A744A2DD74D}">
      <dgm:prSet/>
      <dgm:spPr/>
      <dgm:t>
        <a:bodyPr/>
        <a:lstStyle/>
        <a:p>
          <a:endParaRPr lang="en-US"/>
        </a:p>
      </dgm:t>
    </dgm:pt>
    <dgm:pt modelId="{9BB0B556-01FF-483D-A4DC-1DF37D0E49BF}" type="sibTrans" cxnId="{08889E0C-0029-4994-BB8C-0A744A2DD74D}">
      <dgm:prSet/>
      <dgm:spPr/>
      <dgm:t>
        <a:bodyPr/>
        <a:lstStyle/>
        <a:p>
          <a:endParaRPr lang="en-US"/>
        </a:p>
      </dgm:t>
    </dgm:pt>
    <dgm:pt modelId="{2CACF4F4-27D5-4E7D-B9C1-C1EDDCEB9499}">
      <dgm:prSet/>
      <dgm:spPr/>
      <dgm:t>
        <a:bodyPr/>
        <a:lstStyle/>
        <a:p>
          <a:r>
            <a:rPr lang="en-US" b="1"/>
            <a:t>Collection:</a:t>
          </a:r>
          <a:r>
            <a:rPr lang="en-US"/>
            <a:t> Download the CSV files and process them using PySpark.</a:t>
          </a:r>
        </a:p>
      </dgm:t>
    </dgm:pt>
    <dgm:pt modelId="{20EFAC84-24CA-46AF-8F90-D62D8E0EF42F}" type="parTrans" cxnId="{55A4AC54-2112-4403-A979-7197626E7F1C}">
      <dgm:prSet/>
      <dgm:spPr/>
      <dgm:t>
        <a:bodyPr/>
        <a:lstStyle/>
        <a:p>
          <a:endParaRPr lang="en-US"/>
        </a:p>
      </dgm:t>
    </dgm:pt>
    <dgm:pt modelId="{169B87AB-1FB7-45EA-BD49-F6E48B66A726}" type="sibTrans" cxnId="{55A4AC54-2112-4403-A979-7197626E7F1C}">
      <dgm:prSet/>
      <dgm:spPr/>
      <dgm:t>
        <a:bodyPr/>
        <a:lstStyle/>
        <a:p>
          <a:endParaRPr lang="en-US"/>
        </a:p>
      </dgm:t>
    </dgm:pt>
    <dgm:pt modelId="{108A5208-C580-42AF-A473-34BA8A977DF7}">
      <dgm:prSet/>
      <dgm:spPr/>
      <dgm:t>
        <a:bodyPr/>
        <a:lstStyle/>
        <a:p>
          <a:r>
            <a:rPr lang="en-US" b="1"/>
            <a:t>Estimated Time:</a:t>
          </a:r>
          <a:r>
            <a:rPr lang="en-US"/>
            <a:t> 5–20 minutes to download and a few hours for initial cleaning and preparation.</a:t>
          </a:r>
        </a:p>
      </dgm:t>
    </dgm:pt>
    <dgm:pt modelId="{6B2E6CFA-F27D-42BC-A325-0464447C0C47}" type="parTrans" cxnId="{371CB6A5-0D2D-44CD-B5E6-31E2B6E36BCF}">
      <dgm:prSet/>
      <dgm:spPr/>
      <dgm:t>
        <a:bodyPr/>
        <a:lstStyle/>
        <a:p>
          <a:endParaRPr lang="en-US"/>
        </a:p>
      </dgm:t>
    </dgm:pt>
    <dgm:pt modelId="{01770367-C5CC-4EF0-9368-39573E03D279}" type="sibTrans" cxnId="{371CB6A5-0D2D-44CD-B5E6-31E2B6E36BCF}">
      <dgm:prSet/>
      <dgm:spPr/>
      <dgm:t>
        <a:bodyPr/>
        <a:lstStyle/>
        <a:p>
          <a:endParaRPr lang="en-US"/>
        </a:p>
      </dgm:t>
    </dgm:pt>
    <dgm:pt modelId="{867FB08B-47F8-4606-A047-19772DD096B7}" type="pres">
      <dgm:prSet presAssocID="{DB95DBE2-3AFA-47F6-8C97-A85568BCA2B5}" presName="vert0" presStyleCnt="0">
        <dgm:presLayoutVars>
          <dgm:dir/>
          <dgm:animOne val="branch"/>
          <dgm:animLvl val="lvl"/>
        </dgm:presLayoutVars>
      </dgm:prSet>
      <dgm:spPr/>
    </dgm:pt>
    <dgm:pt modelId="{B5768468-D625-43D0-BE3E-850CD2A6D363}" type="pres">
      <dgm:prSet presAssocID="{7D9257C5-2701-4B21-925F-D41FE328DA95}" presName="thickLine" presStyleLbl="alignNode1" presStyleIdx="0" presStyleCnt="5"/>
      <dgm:spPr/>
    </dgm:pt>
    <dgm:pt modelId="{14E97D13-E02D-4BD3-A773-A155DE1D2F4B}" type="pres">
      <dgm:prSet presAssocID="{7D9257C5-2701-4B21-925F-D41FE328DA95}" presName="horz1" presStyleCnt="0"/>
      <dgm:spPr/>
    </dgm:pt>
    <dgm:pt modelId="{AE852D53-FCFB-460F-A25C-D7C8D0D1115C}" type="pres">
      <dgm:prSet presAssocID="{7D9257C5-2701-4B21-925F-D41FE328DA95}" presName="tx1" presStyleLbl="revTx" presStyleIdx="0" presStyleCnt="5"/>
      <dgm:spPr/>
    </dgm:pt>
    <dgm:pt modelId="{8F2905E8-52E9-44E6-AE1C-442D09909D8B}" type="pres">
      <dgm:prSet presAssocID="{7D9257C5-2701-4B21-925F-D41FE328DA95}" presName="vert1" presStyleCnt="0"/>
      <dgm:spPr/>
    </dgm:pt>
    <dgm:pt modelId="{390FFB12-D814-4990-A19C-D0CAE45F777E}" type="pres">
      <dgm:prSet presAssocID="{BD89E71A-0F62-4005-BB10-EE7357E7B0BC}" presName="thickLine" presStyleLbl="alignNode1" presStyleIdx="1" presStyleCnt="5"/>
      <dgm:spPr/>
    </dgm:pt>
    <dgm:pt modelId="{2C07EF5B-13C4-4D68-9292-F51ACA395602}" type="pres">
      <dgm:prSet presAssocID="{BD89E71A-0F62-4005-BB10-EE7357E7B0BC}" presName="horz1" presStyleCnt="0"/>
      <dgm:spPr/>
    </dgm:pt>
    <dgm:pt modelId="{A8ECE44A-C9DD-478C-853B-1074D6C7627E}" type="pres">
      <dgm:prSet presAssocID="{BD89E71A-0F62-4005-BB10-EE7357E7B0BC}" presName="tx1" presStyleLbl="revTx" presStyleIdx="1" presStyleCnt="5"/>
      <dgm:spPr/>
    </dgm:pt>
    <dgm:pt modelId="{5BDC381B-6995-4E5C-88AF-BFA06FBE613E}" type="pres">
      <dgm:prSet presAssocID="{BD89E71A-0F62-4005-BB10-EE7357E7B0BC}" presName="vert1" presStyleCnt="0"/>
      <dgm:spPr/>
    </dgm:pt>
    <dgm:pt modelId="{768BD806-E11C-45E2-8433-5E0947876C95}" type="pres">
      <dgm:prSet presAssocID="{4F577DB2-EEDE-4009-BDF5-C2FBE9FB8548}" presName="thickLine" presStyleLbl="alignNode1" presStyleIdx="2" presStyleCnt="5"/>
      <dgm:spPr/>
    </dgm:pt>
    <dgm:pt modelId="{B24583CA-67E1-463E-9758-5557B0AEFDE5}" type="pres">
      <dgm:prSet presAssocID="{4F577DB2-EEDE-4009-BDF5-C2FBE9FB8548}" presName="horz1" presStyleCnt="0"/>
      <dgm:spPr/>
    </dgm:pt>
    <dgm:pt modelId="{384A77FB-66A7-40BB-905C-4FE9BF8CDBB3}" type="pres">
      <dgm:prSet presAssocID="{4F577DB2-EEDE-4009-BDF5-C2FBE9FB8548}" presName="tx1" presStyleLbl="revTx" presStyleIdx="2" presStyleCnt="5"/>
      <dgm:spPr/>
    </dgm:pt>
    <dgm:pt modelId="{DDBF1FAB-183F-415F-AB1D-F23C07186ADD}" type="pres">
      <dgm:prSet presAssocID="{4F577DB2-EEDE-4009-BDF5-C2FBE9FB8548}" presName="vert1" presStyleCnt="0"/>
      <dgm:spPr/>
    </dgm:pt>
    <dgm:pt modelId="{8CC0B34D-6191-4236-A09C-65C6C33A5353}" type="pres">
      <dgm:prSet presAssocID="{2CACF4F4-27D5-4E7D-B9C1-C1EDDCEB9499}" presName="thickLine" presStyleLbl="alignNode1" presStyleIdx="3" presStyleCnt="5"/>
      <dgm:spPr/>
    </dgm:pt>
    <dgm:pt modelId="{4691D3D4-E4B8-42E0-BFBA-F88209AB9732}" type="pres">
      <dgm:prSet presAssocID="{2CACF4F4-27D5-4E7D-B9C1-C1EDDCEB9499}" presName="horz1" presStyleCnt="0"/>
      <dgm:spPr/>
    </dgm:pt>
    <dgm:pt modelId="{5A7BE159-2B11-442C-9059-7787854AC22A}" type="pres">
      <dgm:prSet presAssocID="{2CACF4F4-27D5-4E7D-B9C1-C1EDDCEB9499}" presName="tx1" presStyleLbl="revTx" presStyleIdx="3" presStyleCnt="5"/>
      <dgm:spPr/>
    </dgm:pt>
    <dgm:pt modelId="{8713AD33-AF7D-4D2E-BE0F-986B04EB14F8}" type="pres">
      <dgm:prSet presAssocID="{2CACF4F4-27D5-4E7D-B9C1-C1EDDCEB9499}" presName="vert1" presStyleCnt="0"/>
      <dgm:spPr/>
    </dgm:pt>
    <dgm:pt modelId="{A1F1EE08-BE7E-4618-838A-6D5B49C29B3A}" type="pres">
      <dgm:prSet presAssocID="{108A5208-C580-42AF-A473-34BA8A977DF7}" presName="thickLine" presStyleLbl="alignNode1" presStyleIdx="4" presStyleCnt="5"/>
      <dgm:spPr/>
    </dgm:pt>
    <dgm:pt modelId="{9E05EDC6-BC61-4C20-B0D1-9BB173E39BD3}" type="pres">
      <dgm:prSet presAssocID="{108A5208-C580-42AF-A473-34BA8A977DF7}" presName="horz1" presStyleCnt="0"/>
      <dgm:spPr/>
    </dgm:pt>
    <dgm:pt modelId="{F4E5439A-F333-40C5-9543-539FAC30C14A}" type="pres">
      <dgm:prSet presAssocID="{108A5208-C580-42AF-A473-34BA8A977DF7}" presName="tx1" presStyleLbl="revTx" presStyleIdx="4" presStyleCnt="5"/>
      <dgm:spPr/>
    </dgm:pt>
    <dgm:pt modelId="{A6BF3681-13F9-40A1-9D5C-EC628AFC1029}" type="pres">
      <dgm:prSet presAssocID="{108A5208-C580-42AF-A473-34BA8A977DF7}" presName="vert1" presStyleCnt="0"/>
      <dgm:spPr/>
    </dgm:pt>
  </dgm:ptLst>
  <dgm:cxnLst>
    <dgm:cxn modelId="{08889E0C-0029-4994-BB8C-0A744A2DD74D}" srcId="{DB95DBE2-3AFA-47F6-8C97-A85568BCA2B5}" destId="{4F577DB2-EEDE-4009-BDF5-C2FBE9FB8548}" srcOrd="2" destOrd="0" parTransId="{F89C5869-A7BF-4D68-94A9-6AB4F448B51B}" sibTransId="{9BB0B556-01FF-483D-A4DC-1DF37D0E49BF}"/>
    <dgm:cxn modelId="{EA171027-2D05-47D1-A547-92BD5F1E9E55}" type="presOf" srcId="{4F577DB2-EEDE-4009-BDF5-C2FBE9FB8548}" destId="{384A77FB-66A7-40BB-905C-4FE9BF8CDBB3}" srcOrd="0" destOrd="0" presId="urn:microsoft.com/office/officeart/2008/layout/LinedList"/>
    <dgm:cxn modelId="{55A4AC54-2112-4403-A979-7197626E7F1C}" srcId="{DB95DBE2-3AFA-47F6-8C97-A85568BCA2B5}" destId="{2CACF4F4-27D5-4E7D-B9C1-C1EDDCEB9499}" srcOrd="3" destOrd="0" parTransId="{20EFAC84-24CA-46AF-8F90-D62D8E0EF42F}" sibTransId="{169B87AB-1FB7-45EA-BD49-F6E48B66A726}"/>
    <dgm:cxn modelId="{5F348655-098B-4353-82EA-9A63B6B96486}" srcId="{DB95DBE2-3AFA-47F6-8C97-A85568BCA2B5}" destId="{7D9257C5-2701-4B21-925F-D41FE328DA95}" srcOrd="0" destOrd="0" parTransId="{DF09628A-E64C-42BA-86EA-5B6870FAF7DA}" sibTransId="{62E2D7F6-230D-46D3-BB0A-B5369DE4E33C}"/>
    <dgm:cxn modelId="{35A4FD7B-C34B-4416-BAE4-F94DCEF7770A}" type="presOf" srcId="{2CACF4F4-27D5-4E7D-B9C1-C1EDDCEB9499}" destId="{5A7BE159-2B11-442C-9059-7787854AC22A}" srcOrd="0" destOrd="0" presId="urn:microsoft.com/office/officeart/2008/layout/LinedList"/>
    <dgm:cxn modelId="{77124C96-6FF6-4D63-AFB0-C9E0259D8F23}" srcId="{DB95DBE2-3AFA-47F6-8C97-A85568BCA2B5}" destId="{BD89E71A-0F62-4005-BB10-EE7357E7B0BC}" srcOrd="1" destOrd="0" parTransId="{FED2CBDB-7438-4C5A-BEC9-CEE3BC056732}" sibTransId="{1C50A383-0646-4E66-8FE0-6C514531BBBF}"/>
    <dgm:cxn modelId="{371CB6A5-0D2D-44CD-B5E6-31E2B6E36BCF}" srcId="{DB95DBE2-3AFA-47F6-8C97-A85568BCA2B5}" destId="{108A5208-C580-42AF-A473-34BA8A977DF7}" srcOrd="4" destOrd="0" parTransId="{6B2E6CFA-F27D-42BC-A325-0464447C0C47}" sibTransId="{01770367-C5CC-4EF0-9368-39573E03D279}"/>
    <dgm:cxn modelId="{B57AA9AF-1BA1-42A6-A16E-51575A53EA5C}" type="presOf" srcId="{7D9257C5-2701-4B21-925F-D41FE328DA95}" destId="{AE852D53-FCFB-460F-A25C-D7C8D0D1115C}" srcOrd="0" destOrd="0" presId="urn:microsoft.com/office/officeart/2008/layout/LinedList"/>
    <dgm:cxn modelId="{F43BF1AF-2AB4-49D6-92FA-FD7F892C59BA}" type="presOf" srcId="{BD89E71A-0F62-4005-BB10-EE7357E7B0BC}" destId="{A8ECE44A-C9DD-478C-853B-1074D6C7627E}" srcOrd="0" destOrd="0" presId="urn:microsoft.com/office/officeart/2008/layout/LinedList"/>
    <dgm:cxn modelId="{E35B6EBD-6641-4649-99BB-0FC549939E5B}" type="presOf" srcId="{DB95DBE2-3AFA-47F6-8C97-A85568BCA2B5}" destId="{867FB08B-47F8-4606-A047-19772DD096B7}" srcOrd="0" destOrd="0" presId="urn:microsoft.com/office/officeart/2008/layout/LinedList"/>
    <dgm:cxn modelId="{C80A4ED0-7972-4FB2-B4C1-DD7197D23348}" type="presOf" srcId="{108A5208-C580-42AF-A473-34BA8A977DF7}" destId="{F4E5439A-F333-40C5-9543-539FAC30C14A}" srcOrd="0" destOrd="0" presId="urn:microsoft.com/office/officeart/2008/layout/LinedList"/>
    <dgm:cxn modelId="{FBD79442-57A5-4CD8-A5CA-91E8F8DA92AA}" type="presParOf" srcId="{867FB08B-47F8-4606-A047-19772DD096B7}" destId="{B5768468-D625-43D0-BE3E-850CD2A6D363}" srcOrd="0" destOrd="0" presId="urn:microsoft.com/office/officeart/2008/layout/LinedList"/>
    <dgm:cxn modelId="{A5D461DC-2580-4D0A-96F7-32E34257FB46}" type="presParOf" srcId="{867FB08B-47F8-4606-A047-19772DD096B7}" destId="{14E97D13-E02D-4BD3-A773-A155DE1D2F4B}" srcOrd="1" destOrd="0" presId="urn:microsoft.com/office/officeart/2008/layout/LinedList"/>
    <dgm:cxn modelId="{5DEADB6E-62E5-4E3D-A7BB-84A82D284DF0}" type="presParOf" srcId="{14E97D13-E02D-4BD3-A773-A155DE1D2F4B}" destId="{AE852D53-FCFB-460F-A25C-D7C8D0D1115C}" srcOrd="0" destOrd="0" presId="urn:microsoft.com/office/officeart/2008/layout/LinedList"/>
    <dgm:cxn modelId="{CAF72EDD-FD07-4903-AE55-729649DD82EB}" type="presParOf" srcId="{14E97D13-E02D-4BD3-A773-A155DE1D2F4B}" destId="{8F2905E8-52E9-44E6-AE1C-442D09909D8B}" srcOrd="1" destOrd="0" presId="urn:microsoft.com/office/officeart/2008/layout/LinedList"/>
    <dgm:cxn modelId="{2D3CFA02-FF51-405E-B9CF-6B3A11E74A4C}" type="presParOf" srcId="{867FB08B-47F8-4606-A047-19772DD096B7}" destId="{390FFB12-D814-4990-A19C-D0CAE45F777E}" srcOrd="2" destOrd="0" presId="urn:microsoft.com/office/officeart/2008/layout/LinedList"/>
    <dgm:cxn modelId="{0397DB55-B742-4AD0-9D60-C7B6A32E91E4}" type="presParOf" srcId="{867FB08B-47F8-4606-A047-19772DD096B7}" destId="{2C07EF5B-13C4-4D68-9292-F51ACA395602}" srcOrd="3" destOrd="0" presId="urn:microsoft.com/office/officeart/2008/layout/LinedList"/>
    <dgm:cxn modelId="{B9F3B55E-2869-4228-9D32-0A1CEB4DDFC2}" type="presParOf" srcId="{2C07EF5B-13C4-4D68-9292-F51ACA395602}" destId="{A8ECE44A-C9DD-478C-853B-1074D6C7627E}" srcOrd="0" destOrd="0" presId="urn:microsoft.com/office/officeart/2008/layout/LinedList"/>
    <dgm:cxn modelId="{A1BC3E7E-C710-4AAC-B7BF-2D21ED5B8C32}" type="presParOf" srcId="{2C07EF5B-13C4-4D68-9292-F51ACA395602}" destId="{5BDC381B-6995-4E5C-88AF-BFA06FBE613E}" srcOrd="1" destOrd="0" presId="urn:microsoft.com/office/officeart/2008/layout/LinedList"/>
    <dgm:cxn modelId="{38302B9E-D3DD-43C0-83F2-CF4EF6983D9D}" type="presParOf" srcId="{867FB08B-47F8-4606-A047-19772DD096B7}" destId="{768BD806-E11C-45E2-8433-5E0947876C95}" srcOrd="4" destOrd="0" presId="urn:microsoft.com/office/officeart/2008/layout/LinedList"/>
    <dgm:cxn modelId="{01CBF40C-6854-463B-8610-1EE6945552D5}" type="presParOf" srcId="{867FB08B-47F8-4606-A047-19772DD096B7}" destId="{B24583CA-67E1-463E-9758-5557B0AEFDE5}" srcOrd="5" destOrd="0" presId="urn:microsoft.com/office/officeart/2008/layout/LinedList"/>
    <dgm:cxn modelId="{E091AB08-B6FE-475A-ABDB-42348FD2E57C}" type="presParOf" srcId="{B24583CA-67E1-463E-9758-5557B0AEFDE5}" destId="{384A77FB-66A7-40BB-905C-4FE9BF8CDBB3}" srcOrd="0" destOrd="0" presId="urn:microsoft.com/office/officeart/2008/layout/LinedList"/>
    <dgm:cxn modelId="{ABB343FB-040B-4802-8F54-644EE4554570}" type="presParOf" srcId="{B24583CA-67E1-463E-9758-5557B0AEFDE5}" destId="{DDBF1FAB-183F-415F-AB1D-F23C07186ADD}" srcOrd="1" destOrd="0" presId="urn:microsoft.com/office/officeart/2008/layout/LinedList"/>
    <dgm:cxn modelId="{8B6EE26F-DDF3-4FFD-9D5A-049D09A033F7}" type="presParOf" srcId="{867FB08B-47F8-4606-A047-19772DD096B7}" destId="{8CC0B34D-6191-4236-A09C-65C6C33A5353}" srcOrd="6" destOrd="0" presId="urn:microsoft.com/office/officeart/2008/layout/LinedList"/>
    <dgm:cxn modelId="{BFB4C106-B571-444D-8FB5-F7F5A73E33FB}" type="presParOf" srcId="{867FB08B-47F8-4606-A047-19772DD096B7}" destId="{4691D3D4-E4B8-42E0-BFBA-F88209AB9732}" srcOrd="7" destOrd="0" presId="urn:microsoft.com/office/officeart/2008/layout/LinedList"/>
    <dgm:cxn modelId="{03D53D88-608A-4BFD-A83A-7F9901CCC275}" type="presParOf" srcId="{4691D3D4-E4B8-42E0-BFBA-F88209AB9732}" destId="{5A7BE159-2B11-442C-9059-7787854AC22A}" srcOrd="0" destOrd="0" presId="urn:microsoft.com/office/officeart/2008/layout/LinedList"/>
    <dgm:cxn modelId="{F3BD0532-A7E6-4033-B7A3-8EFDC1779454}" type="presParOf" srcId="{4691D3D4-E4B8-42E0-BFBA-F88209AB9732}" destId="{8713AD33-AF7D-4D2E-BE0F-986B04EB14F8}" srcOrd="1" destOrd="0" presId="urn:microsoft.com/office/officeart/2008/layout/LinedList"/>
    <dgm:cxn modelId="{49C11F79-EE53-4470-A46B-EDADA0966972}" type="presParOf" srcId="{867FB08B-47F8-4606-A047-19772DD096B7}" destId="{A1F1EE08-BE7E-4618-838A-6D5B49C29B3A}" srcOrd="8" destOrd="0" presId="urn:microsoft.com/office/officeart/2008/layout/LinedList"/>
    <dgm:cxn modelId="{E7EB57E9-DBA2-41A0-9B3B-151B77FF1AB8}" type="presParOf" srcId="{867FB08B-47F8-4606-A047-19772DD096B7}" destId="{9E05EDC6-BC61-4C20-B0D1-9BB173E39BD3}" srcOrd="9" destOrd="0" presId="urn:microsoft.com/office/officeart/2008/layout/LinedList"/>
    <dgm:cxn modelId="{B7153ADF-3254-4DA4-ACA2-063EB52011CB}" type="presParOf" srcId="{9E05EDC6-BC61-4C20-B0D1-9BB173E39BD3}" destId="{F4E5439A-F333-40C5-9543-539FAC30C14A}" srcOrd="0" destOrd="0" presId="urn:microsoft.com/office/officeart/2008/layout/LinedList"/>
    <dgm:cxn modelId="{3F9575BA-EEDB-4D59-A7AE-0FB42244FE59}" type="presParOf" srcId="{9E05EDC6-BC61-4C20-B0D1-9BB173E39BD3}" destId="{A6BF3681-13F9-40A1-9D5C-EC628AFC102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68468-D625-43D0-BE3E-850CD2A6D363}">
      <dsp:nvSpPr>
        <dsp:cNvPr id="0" name=""/>
        <dsp:cNvSpPr/>
      </dsp:nvSpPr>
      <dsp:spPr>
        <a:xfrm>
          <a:off x="0" y="511"/>
          <a:ext cx="10927829"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852D53-FCFB-460F-A25C-D7C8D0D1115C}">
      <dsp:nvSpPr>
        <dsp:cNvPr id="0" name=""/>
        <dsp:cNvSpPr/>
      </dsp:nvSpPr>
      <dsp:spPr>
        <a:xfrm>
          <a:off x="0" y="511"/>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Dataset:</a:t>
          </a:r>
          <a:r>
            <a:rPr lang="en-US" sz="2300" kern="1200"/>
            <a:t> NYC Taxi Fare Prediction (~55 million records, 5.7 GB).</a:t>
          </a:r>
        </a:p>
      </dsp:txBody>
      <dsp:txXfrm>
        <a:off x="0" y="511"/>
        <a:ext cx="10927829" cy="838356"/>
      </dsp:txXfrm>
    </dsp:sp>
    <dsp:sp modelId="{390FFB12-D814-4990-A19C-D0CAE45F777E}">
      <dsp:nvSpPr>
        <dsp:cNvPr id="0" name=""/>
        <dsp:cNvSpPr/>
      </dsp:nvSpPr>
      <dsp:spPr>
        <a:xfrm>
          <a:off x="0" y="838868"/>
          <a:ext cx="10927829"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ECE44A-C9DD-478C-853B-1074D6C7627E}">
      <dsp:nvSpPr>
        <dsp:cNvPr id="0" name=""/>
        <dsp:cNvSpPr/>
      </dsp:nvSpPr>
      <dsp:spPr>
        <a:xfrm>
          <a:off x="0" y="838868"/>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Attributes:</a:t>
          </a:r>
          <a:r>
            <a:rPr lang="en-US" sz="2300" kern="1200"/>
            <a:t> Pickup/drop-off locations, date/time, passenger count, and fare amount.</a:t>
          </a:r>
        </a:p>
      </dsp:txBody>
      <dsp:txXfrm>
        <a:off x="0" y="838868"/>
        <a:ext cx="10927829" cy="838356"/>
      </dsp:txXfrm>
    </dsp:sp>
    <dsp:sp modelId="{768BD806-E11C-45E2-8433-5E0947876C95}">
      <dsp:nvSpPr>
        <dsp:cNvPr id="0" name=""/>
        <dsp:cNvSpPr/>
      </dsp:nvSpPr>
      <dsp:spPr>
        <a:xfrm>
          <a:off x="0" y="1677224"/>
          <a:ext cx="10927829"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4A77FB-66A7-40BB-905C-4FE9BF8CDBB3}">
      <dsp:nvSpPr>
        <dsp:cNvPr id="0" name=""/>
        <dsp:cNvSpPr/>
      </dsp:nvSpPr>
      <dsp:spPr>
        <a:xfrm>
          <a:off x="0" y="1677224"/>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Source:</a:t>
          </a:r>
          <a:r>
            <a:rPr lang="en-US" sz="2300" kern="1200"/>
            <a:t> </a:t>
          </a:r>
          <a:r>
            <a:rPr lang="en-US" sz="2300" kern="1200">
              <a:hlinkClick xmlns:r="http://schemas.openxmlformats.org/officeDocument/2006/relationships" r:id="rId1"/>
            </a:rPr>
            <a:t>Kaggle – NYC Taxi Fare Prediction</a:t>
          </a:r>
          <a:r>
            <a:rPr lang="en-US" sz="2300" kern="1200"/>
            <a:t>, https://www.kaggle.com/competitions/new-york-city-taxi-fare-prediction/data</a:t>
          </a:r>
        </a:p>
      </dsp:txBody>
      <dsp:txXfrm>
        <a:off x="0" y="1677224"/>
        <a:ext cx="10927829" cy="838356"/>
      </dsp:txXfrm>
    </dsp:sp>
    <dsp:sp modelId="{8CC0B34D-6191-4236-A09C-65C6C33A5353}">
      <dsp:nvSpPr>
        <dsp:cNvPr id="0" name=""/>
        <dsp:cNvSpPr/>
      </dsp:nvSpPr>
      <dsp:spPr>
        <a:xfrm>
          <a:off x="0" y="2515580"/>
          <a:ext cx="10927829"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7BE159-2B11-442C-9059-7787854AC22A}">
      <dsp:nvSpPr>
        <dsp:cNvPr id="0" name=""/>
        <dsp:cNvSpPr/>
      </dsp:nvSpPr>
      <dsp:spPr>
        <a:xfrm>
          <a:off x="0" y="2515580"/>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Collection:</a:t>
          </a:r>
          <a:r>
            <a:rPr lang="en-US" sz="2300" kern="1200"/>
            <a:t> Download the CSV files and process them using PySpark.</a:t>
          </a:r>
        </a:p>
      </dsp:txBody>
      <dsp:txXfrm>
        <a:off x="0" y="2515580"/>
        <a:ext cx="10927829" cy="838356"/>
      </dsp:txXfrm>
    </dsp:sp>
    <dsp:sp modelId="{A1F1EE08-BE7E-4618-838A-6D5B49C29B3A}">
      <dsp:nvSpPr>
        <dsp:cNvPr id="0" name=""/>
        <dsp:cNvSpPr/>
      </dsp:nvSpPr>
      <dsp:spPr>
        <a:xfrm>
          <a:off x="0" y="3353936"/>
          <a:ext cx="10927829"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E5439A-F333-40C5-9543-539FAC30C14A}">
      <dsp:nvSpPr>
        <dsp:cNvPr id="0" name=""/>
        <dsp:cNvSpPr/>
      </dsp:nvSpPr>
      <dsp:spPr>
        <a:xfrm>
          <a:off x="0" y="3353936"/>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Estimated Time:</a:t>
          </a:r>
          <a:r>
            <a:rPr lang="en-US" sz="2300" kern="1200"/>
            <a:t> 5–20 minutes to download and a few hours for initial cleaning and preparation.</a:t>
          </a:r>
        </a:p>
      </dsp:txBody>
      <dsp:txXfrm>
        <a:off x="0" y="3353936"/>
        <a:ext cx="10927829" cy="83835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3DBBF-1127-30DF-78A4-A7558C4F65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6A0562-927A-FC64-385F-E4D01769A8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013D53-4433-AE93-FAD8-32F3E3218DA5}"/>
              </a:ext>
            </a:extLst>
          </p:cNvPr>
          <p:cNvSpPr>
            <a:spLocks noGrp="1"/>
          </p:cNvSpPr>
          <p:nvPr>
            <p:ph type="dt" sz="half" idx="10"/>
          </p:nvPr>
        </p:nvSpPr>
        <p:spPr/>
        <p:txBody>
          <a:bodyPr/>
          <a:lstStyle/>
          <a:p>
            <a:fld id="{DE86579E-4F9A-4800-AB75-5DEF5CC682E2}" type="datetimeFigureOut">
              <a:rPr lang="en-US" smtClean="0"/>
              <a:t>10/27/2026</a:t>
            </a:fld>
            <a:endParaRPr lang="en-US"/>
          </a:p>
        </p:txBody>
      </p:sp>
      <p:sp>
        <p:nvSpPr>
          <p:cNvPr id="5" name="Footer Placeholder 4">
            <a:extLst>
              <a:ext uri="{FF2B5EF4-FFF2-40B4-BE49-F238E27FC236}">
                <a16:creationId xmlns:a16="http://schemas.microsoft.com/office/drawing/2014/main" id="{C3B1A94C-94ED-C9C3-3C6E-C7E10706A9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AED1B4-B89D-FD87-121F-9310935F3BC6}"/>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407860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F1F4-7C2A-CD2C-651D-6DE6E13DE8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F3F503-D45F-ED19-7C1B-4953907D43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E3255F-2559-4364-0F8F-0F5757E1AE83}"/>
              </a:ext>
            </a:extLst>
          </p:cNvPr>
          <p:cNvSpPr>
            <a:spLocks noGrp="1"/>
          </p:cNvSpPr>
          <p:nvPr>
            <p:ph type="dt" sz="half" idx="10"/>
          </p:nvPr>
        </p:nvSpPr>
        <p:spPr/>
        <p:txBody>
          <a:bodyPr/>
          <a:lstStyle/>
          <a:p>
            <a:fld id="{DE86579E-4F9A-4800-AB75-5DEF5CC682E2}" type="datetimeFigureOut">
              <a:rPr lang="en-US" smtClean="0"/>
              <a:t>10/27/2026</a:t>
            </a:fld>
            <a:endParaRPr lang="en-US"/>
          </a:p>
        </p:txBody>
      </p:sp>
      <p:sp>
        <p:nvSpPr>
          <p:cNvPr id="5" name="Footer Placeholder 4">
            <a:extLst>
              <a:ext uri="{FF2B5EF4-FFF2-40B4-BE49-F238E27FC236}">
                <a16:creationId xmlns:a16="http://schemas.microsoft.com/office/drawing/2014/main" id="{15C82B8E-977C-FEA7-6297-BE3AEF43F2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984267-BFFB-C433-E52B-56EF3F9EABAD}"/>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404623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FE98-5077-16D2-B4DA-FC20267B59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1DAF1F-2255-566D-D7F0-E5307D25D9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9836AA-0DA0-F7EF-8487-F771D45B2843}"/>
              </a:ext>
            </a:extLst>
          </p:cNvPr>
          <p:cNvSpPr>
            <a:spLocks noGrp="1"/>
          </p:cNvSpPr>
          <p:nvPr>
            <p:ph type="dt" sz="half" idx="10"/>
          </p:nvPr>
        </p:nvSpPr>
        <p:spPr/>
        <p:txBody>
          <a:bodyPr/>
          <a:lstStyle/>
          <a:p>
            <a:fld id="{DE86579E-4F9A-4800-AB75-5DEF5CC682E2}" type="datetimeFigureOut">
              <a:rPr lang="en-US" smtClean="0"/>
              <a:t>10/27/2026</a:t>
            </a:fld>
            <a:endParaRPr lang="en-US"/>
          </a:p>
        </p:txBody>
      </p:sp>
      <p:sp>
        <p:nvSpPr>
          <p:cNvPr id="5" name="Footer Placeholder 4">
            <a:extLst>
              <a:ext uri="{FF2B5EF4-FFF2-40B4-BE49-F238E27FC236}">
                <a16:creationId xmlns:a16="http://schemas.microsoft.com/office/drawing/2014/main" id="{FB8D4E88-02DE-83DA-2F5B-F7B5ACB2C5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7E64CA-CF13-4DA0-25F7-DD19E2723E77}"/>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507091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4B09D-4F15-656D-97FF-51BDB94AC4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4DC279-7482-13C2-DFE3-54A3A6B994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1C1520-080C-F47B-91D6-3B4601ED9C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33891F-6E6A-F5C3-80DE-46900214B308}"/>
              </a:ext>
            </a:extLst>
          </p:cNvPr>
          <p:cNvSpPr>
            <a:spLocks noGrp="1"/>
          </p:cNvSpPr>
          <p:nvPr>
            <p:ph type="dt" sz="half" idx="10"/>
          </p:nvPr>
        </p:nvSpPr>
        <p:spPr/>
        <p:txBody>
          <a:bodyPr/>
          <a:lstStyle/>
          <a:p>
            <a:fld id="{DE86579E-4F9A-4800-AB75-5DEF5CC682E2}" type="datetimeFigureOut">
              <a:rPr lang="en-US" smtClean="0"/>
              <a:t>10/27/2026</a:t>
            </a:fld>
            <a:endParaRPr lang="en-US"/>
          </a:p>
        </p:txBody>
      </p:sp>
      <p:sp>
        <p:nvSpPr>
          <p:cNvPr id="6" name="Footer Placeholder 5">
            <a:extLst>
              <a:ext uri="{FF2B5EF4-FFF2-40B4-BE49-F238E27FC236}">
                <a16:creationId xmlns:a16="http://schemas.microsoft.com/office/drawing/2014/main" id="{78211EC4-41C3-4D69-FB39-4D11A23BE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FB59DE-BF13-EEB7-9A0A-E700170FA145}"/>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466904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BA88-5D23-23F4-C5B8-551E6A2153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6EA2F6-6B38-B937-EF32-25DFF4D9D9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715AB4-0124-F9F8-F09D-2BC464C95B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145179-9C0A-8B7E-E7B2-86FB36E6C9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DF341F-2991-8FFA-5228-245DEEC7CF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DB7C89-665E-AE8E-DF58-20A16C12C40C}"/>
              </a:ext>
            </a:extLst>
          </p:cNvPr>
          <p:cNvSpPr>
            <a:spLocks noGrp="1"/>
          </p:cNvSpPr>
          <p:nvPr>
            <p:ph type="dt" sz="half" idx="10"/>
          </p:nvPr>
        </p:nvSpPr>
        <p:spPr/>
        <p:txBody>
          <a:bodyPr/>
          <a:lstStyle/>
          <a:p>
            <a:fld id="{DE86579E-4F9A-4800-AB75-5DEF5CC682E2}" type="datetimeFigureOut">
              <a:rPr lang="en-US" smtClean="0"/>
              <a:t>10/27/2026</a:t>
            </a:fld>
            <a:endParaRPr lang="en-US"/>
          </a:p>
        </p:txBody>
      </p:sp>
      <p:sp>
        <p:nvSpPr>
          <p:cNvPr id="8" name="Footer Placeholder 7">
            <a:extLst>
              <a:ext uri="{FF2B5EF4-FFF2-40B4-BE49-F238E27FC236}">
                <a16:creationId xmlns:a16="http://schemas.microsoft.com/office/drawing/2014/main" id="{3C2924E9-6DB6-B979-D460-D4ABB440D3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914A53-3FE0-DED3-9B4F-3B4DECFF0F6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548107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AA6F2-5FDF-96EC-63F1-0EBDFA1D50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014E4D-27D7-70F7-A405-0417B9A79353}"/>
              </a:ext>
            </a:extLst>
          </p:cNvPr>
          <p:cNvSpPr>
            <a:spLocks noGrp="1"/>
          </p:cNvSpPr>
          <p:nvPr>
            <p:ph type="dt" sz="half" idx="10"/>
          </p:nvPr>
        </p:nvSpPr>
        <p:spPr/>
        <p:txBody>
          <a:bodyPr/>
          <a:lstStyle/>
          <a:p>
            <a:fld id="{DE86579E-4F9A-4800-AB75-5DEF5CC682E2}" type="datetimeFigureOut">
              <a:rPr lang="en-US" smtClean="0"/>
              <a:t>10/27/2026</a:t>
            </a:fld>
            <a:endParaRPr lang="en-US"/>
          </a:p>
        </p:txBody>
      </p:sp>
      <p:sp>
        <p:nvSpPr>
          <p:cNvPr id="4" name="Footer Placeholder 3">
            <a:extLst>
              <a:ext uri="{FF2B5EF4-FFF2-40B4-BE49-F238E27FC236}">
                <a16:creationId xmlns:a16="http://schemas.microsoft.com/office/drawing/2014/main" id="{A02B6864-272E-FBBB-D395-0B02FA4A78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341E9C-84CE-53A9-9C1F-F1ADDDDA2AE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424045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2D3318-8B40-2931-D5CE-A908E8017323}"/>
              </a:ext>
            </a:extLst>
          </p:cNvPr>
          <p:cNvSpPr>
            <a:spLocks noGrp="1"/>
          </p:cNvSpPr>
          <p:nvPr>
            <p:ph type="dt" sz="half" idx="10"/>
          </p:nvPr>
        </p:nvSpPr>
        <p:spPr/>
        <p:txBody>
          <a:bodyPr/>
          <a:lstStyle/>
          <a:p>
            <a:fld id="{DE86579E-4F9A-4800-AB75-5DEF5CC682E2}" type="datetimeFigureOut">
              <a:rPr lang="en-US" smtClean="0"/>
              <a:t>10/27/2026</a:t>
            </a:fld>
            <a:endParaRPr lang="en-US"/>
          </a:p>
        </p:txBody>
      </p:sp>
      <p:sp>
        <p:nvSpPr>
          <p:cNvPr id="3" name="Footer Placeholder 2">
            <a:extLst>
              <a:ext uri="{FF2B5EF4-FFF2-40B4-BE49-F238E27FC236}">
                <a16:creationId xmlns:a16="http://schemas.microsoft.com/office/drawing/2014/main" id="{57AE424B-4F98-E515-D16C-9A68149691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4B4680-66A0-1CD7-C8F9-B879245C769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2932026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C39EC-C2CA-A923-701E-43B007F096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9E0029-1D01-990D-2661-E88ECCD8CA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959814-EA3B-DEB3-332B-2D9467764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92A916-2A10-C721-BE87-742DA1A71694}"/>
              </a:ext>
            </a:extLst>
          </p:cNvPr>
          <p:cNvSpPr>
            <a:spLocks noGrp="1"/>
          </p:cNvSpPr>
          <p:nvPr>
            <p:ph type="dt" sz="half" idx="10"/>
          </p:nvPr>
        </p:nvSpPr>
        <p:spPr/>
        <p:txBody>
          <a:bodyPr/>
          <a:lstStyle/>
          <a:p>
            <a:fld id="{DE86579E-4F9A-4800-AB75-5DEF5CC682E2}" type="datetimeFigureOut">
              <a:rPr lang="en-US" smtClean="0"/>
              <a:t>10/27/2026</a:t>
            </a:fld>
            <a:endParaRPr lang="en-US"/>
          </a:p>
        </p:txBody>
      </p:sp>
      <p:sp>
        <p:nvSpPr>
          <p:cNvPr id="6" name="Footer Placeholder 5">
            <a:extLst>
              <a:ext uri="{FF2B5EF4-FFF2-40B4-BE49-F238E27FC236}">
                <a16:creationId xmlns:a16="http://schemas.microsoft.com/office/drawing/2014/main" id="{817C7B84-D943-9136-8A12-32612169F5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A473A5-B50E-D992-8D05-98F6B73CF0F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078388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44D9D-11AA-3FF0-C33F-ED43026C4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F768ED-812B-6A3E-CFB7-F6D34AAE31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76D53-5825-3173-4764-4A8A50DEF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719093-6729-C3B7-902C-81A2C0C9506E}"/>
              </a:ext>
            </a:extLst>
          </p:cNvPr>
          <p:cNvSpPr>
            <a:spLocks noGrp="1"/>
          </p:cNvSpPr>
          <p:nvPr>
            <p:ph type="dt" sz="half" idx="10"/>
          </p:nvPr>
        </p:nvSpPr>
        <p:spPr/>
        <p:txBody>
          <a:bodyPr/>
          <a:lstStyle/>
          <a:p>
            <a:fld id="{DE86579E-4F9A-4800-AB75-5DEF5CC682E2}" type="datetimeFigureOut">
              <a:rPr lang="en-US" smtClean="0"/>
              <a:t>10/27/2026</a:t>
            </a:fld>
            <a:endParaRPr lang="en-US"/>
          </a:p>
        </p:txBody>
      </p:sp>
      <p:sp>
        <p:nvSpPr>
          <p:cNvPr id="6" name="Footer Placeholder 5">
            <a:extLst>
              <a:ext uri="{FF2B5EF4-FFF2-40B4-BE49-F238E27FC236}">
                <a16:creationId xmlns:a16="http://schemas.microsoft.com/office/drawing/2014/main" id="{C9272325-FC09-D0BB-74DA-B2E68D2A2E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61EA30-D63D-EE09-AD09-F0E9C9B60C04}"/>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978343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0B6D0-6166-52B1-91CF-2813781554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8BB93A-B97C-344E-B5B3-B7A4CD32C8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7ADD32-D2AE-FBEB-6B7B-18C196A1ABDD}"/>
              </a:ext>
            </a:extLst>
          </p:cNvPr>
          <p:cNvSpPr>
            <a:spLocks noGrp="1"/>
          </p:cNvSpPr>
          <p:nvPr>
            <p:ph type="dt" sz="half" idx="10"/>
          </p:nvPr>
        </p:nvSpPr>
        <p:spPr/>
        <p:txBody>
          <a:bodyPr/>
          <a:lstStyle/>
          <a:p>
            <a:fld id="{DE86579E-4F9A-4800-AB75-5DEF5CC682E2}" type="datetimeFigureOut">
              <a:rPr lang="en-US" smtClean="0"/>
              <a:t>10/27/2026</a:t>
            </a:fld>
            <a:endParaRPr lang="en-US"/>
          </a:p>
        </p:txBody>
      </p:sp>
      <p:sp>
        <p:nvSpPr>
          <p:cNvPr id="5" name="Footer Placeholder 4">
            <a:extLst>
              <a:ext uri="{FF2B5EF4-FFF2-40B4-BE49-F238E27FC236}">
                <a16:creationId xmlns:a16="http://schemas.microsoft.com/office/drawing/2014/main" id="{DE95D451-F65C-C053-DEAD-353DB5E984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371327-07AD-A899-7DF7-0B2E1011385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084822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3D2FF9-ACAC-CCA2-DE2D-51465BC543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B4DE26-C2B8-2A49-E0FF-1B82B86E3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B3EF3-2CA1-A702-739D-50CAA76E2BEA}"/>
              </a:ext>
            </a:extLst>
          </p:cNvPr>
          <p:cNvSpPr>
            <a:spLocks noGrp="1"/>
          </p:cNvSpPr>
          <p:nvPr>
            <p:ph type="dt" sz="half" idx="10"/>
          </p:nvPr>
        </p:nvSpPr>
        <p:spPr/>
        <p:txBody>
          <a:bodyPr/>
          <a:lstStyle/>
          <a:p>
            <a:fld id="{DE86579E-4F9A-4800-AB75-5DEF5CC682E2}" type="datetimeFigureOut">
              <a:rPr lang="en-US" smtClean="0"/>
              <a:t>10/27/2026</a:t>
            </a:fld>
            <a:endParaRPr lang="en-US"/>
          </a:p>
        </p:txBody>
      </p:sp>
      <p:sp>
        <p:nvSpPr>
          <p:cNvPr id="5" name="Footer Placeholder 4">
            <a:extLst>
              <a:ext uri="{FF2B5EF4-FFF2-40B4-BE49-F238E27FC236}">
                <a16:creationId xmlns:a16="http://schemas.microsoft.com/office/drawing/2014/main" id="{44F1E8C2-E1F1-7192-2537-4E62885478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B724DA-C4BB-4096-F998-08431C694394}"/>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2592822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98E85B-7DA5-A5B1-8538-3444D86716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4FDE1F-9B57-EBED-9381-5F0899454F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EB9AED-F4BD-41CC-E9D7-97598D8C36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86579E-4F9A-4800-AB75-5DEF5CC682E2}" type="datetimeFigureOut">
              <a:rPr lang="en-US" smtClean="0"/>
              <a:t>10/27/2026</a:t>
            </a:fld>
            <a:endParaRPr lang="en-US"/>
          </a:p>
        </p:txBody>
      </p:sp>
      <p:sp>
        <p:nvSpPr>
          <p:cNvPr id="5" name="Footer Placeholder 4">
            <a:extLst>
              <a:ext uri="{FF2B5EF4-FFF2-40B4-BE49-F238E27FC236}">
                <a16:creationId xmlns:a16="http://schemas.microsoft.com/office/drawing/2014/main" id="{3F20A758-9A8D-C955-093D-3592696200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06FDCA-8C8A-5F8C-300C-145EF8888B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40147F-94FF-485E-8EAF-0E8F92619629}" type="slidenum">
              <a:rPr lang="en-US" smtClean="0"/>
              <a:t>‹#›</a:t>
            </a:fld>
            <a:endParaRPr lang="en-US"/>
          </a:p>
        </p:txBody>
      </p:sp>
    </p:spTree>
    <p:extLst>
      <p:ext uri="{BB962C8B-B14F-4D97-AF65-F5344CB8AC3E}">
        <p14:creationId xmlns:p14="http://schemas.microsoft.com/office/powerpoint/2010/main" val="2031621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regenerativetoday.com/learn-to-formulate-good-research-question-for-efficient-statistical-analysi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jzach-rgb/CS483-project.git" TargetMode="External"/><Relationship Id="rId2" Type="http://schemas.openxmlformats.org/officeDocument/2006/relationships/hyperlink" Target="https://github.com/jzach-rgb/CS483-project/blob/main/teamAgreement.pdf"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 name="Rectangle 76">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44A58B-51A9-8322-BF29-88A9D323975B}"/>
              </a:ext>
            </a:extLst>
          </p:cNvPr>
          <p:cNvSpPr>
            <a:spLocks noGrp="1"/>
          </p:cNvSpPr>
          <p:nvPr>
            <p:ph type="ctrTitle"/>
          </p:nvPr>
        </p:nvSpPr>
        <p:spPr>
          <a:xfrm>
            <a:off x="972434" y="2151516"/>
            <a:ext cx="4270588" cy="5576770"/>
          </a:xfrm>
        </p:spPr>
        <p:txBody>
          <a:bodyPr vert="horz" lIns="91440" tIns="45720" rIns="91440" bIns="45720" rtlCol="0" anchor="t">
            <a:normAutofit/>
          </a:bodyPr>
          <a:lstStyle/>
          <a:p>
            <a:pPr algn="l"/>
            <a:r>
              <a:rPr lang="en-US" sz="6600" b="1" kern="1200">
                <a:solidFill>
                  <a:schemeClr val="bg1"/>
                </a:solidFill>
                <a:latin typeface="+mj-lt"/>
                <a:ea typeface="+mj-ea"/>
                <a:cs typeface="+mj-cs"/>
              </a:rPr>
              <a:t>Milestone 1 Proposal</a:t>
            </a:r>
            <a:endParaRPr lang="en-US" sz="6600" kern="1200">
              <a:solidFill>
                <a:schemeClr val="bg1"/>
              </a:solidFill>
              <a:latin typeface="+mj-lt"/>
              <a:ea typeface="+mj-ea"/>
              <a:cs typeface="+mj-cs"/>
            </a:endParaRPr>
          </a:p>
        </p:txBody>
      </p:sp>
      <p:sp>
        <p:nvSpPr>
          <p:cNvPr id="79" name="Rectangle 78">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63776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6FB7020F-3785-AD9F-1207-97D5B1390743}"/>
              </a:ext>
            </a:extLst>
          </p:cNvPr>
          <p:cNvSpPr>
            <a:spLocks noGrp="1"/>
          </p:cNvSpPr>
          <p:nvPr>
            <p:ph type="subTitle" idx="1"/>
          </p:nvPr>
        </p:nvSpPr>
        <p:spPr>
          <a:xfrm>
            <a:off x="6496443" y="1172318"/>
            <a:ext cx="4310700" cy="5335059"/>
          </a:xfrm>
        </p:spPr>
        <p:txBody>
          <a:bodyPr vert="horz" lIns="91440" tIns="45720" rIns="91440" bIns="45720" rtlCol="0">
            <a:normAutofit/>
          </a:bodyPr>
          <a:lstStyle/>
          <a:p>
            <a:pPr algn="l"/>
            <a:r>
              <a:rPr lang="en-US" b="1" dirty="0"/>
              <a:t>Group Name:</a:t>
            </a:r>
          </a:p>
          <a:p>
            <a:pPr algn="l"/>
            <a:r>
              <a:rPr lang="en-US" dirty="0"/>
              <a:t>Data </a:t>
            </a:r>
            <a:r>
              <a:rPr lang="en-US" dirty="0" err="1"/>
              <a:t>Minerz</a:t>
            </a:r>
            <a:endParaRPr lang="en-US" dirty="0"/>
          </a:p>
          <a:p>
            <a:pPr indent="-228600" algn="l">
              <a:buFont typeface="Arial" panose="020B0604020202020204" pitchFamily="34" charset="0"/>
              <a:buChar char="•"/>
            </a:pPr>
            <a:endParaRPr lang="en-US" dirty="0"/>
          </a:p>
          <a:p>
            <a:pPr algn="l"/>
            <a:r>
              <a:rPr lang="en-US" b="1" dirty="0"/>
              <a:t>Participants:</a:t>
            </a:r>
          </a:p>
          <a:p>
            <a:pPr algn="l"/>
            <a:r>
              <a:rPr lang="en-US" dirty="0"/>
              <a:t>Muhammad Khan(mkhan408)</a:t>
            </a:r>
          </a:p>
          <a:p>
            <a:pPr algn="l"/>
            <a:r>
              <a:rPr lang="en-US" dirty="0" err="1"/>
              <a:t>Omais</a:t>
            </a:r>
            <a:r>
              <a:rPr lang="en-US" dirty="0"/>
              <a:t> Ahmed(oahme4),</a:t>
            </a:r>
          </a:p>
          <a:p>
            <a:pPr algn="l"/>
            <a:r>
              <a:rPr lang="en-US" dirty="0"/>
              <a:t>Joshua Zacharia(</a:t>
            </a:r>
            <a:r>
              <a:rPr lang="en-US" dirty="0" err="1"/>
              <a:t>jzach</a:t>
            </a:r>
            <a:r>
              <a:rPr lang="en-US" dirty="0"/>
              <a:t>)</a:t>
            </a:r>
          </a:p>
          <a:p>
            <a:pPr algn="l"/>
            <a:r>
              <a:rPr lang="en-US" dirty="0"/>
              <a:t>Pawan Kumar(pkuma45)</a:t>
            </a:r>
          </a:p>
          <a:p>
            <a:pPr indent="-228600" algn="l">
              <a:buFont typeface="Arial" panose="020B0604020202020204" pitchFamily="34" charset="0"/>
              <a:buChar char="•"/>
            </a:pPr>
            <a:endParaRPr lang="en-US" dirty="0"/>
          </a:p>
          <a:p>
            <a:pPr indent="-228600" algn="l">
              <a:buFont typeface="Arial" panose="020B0604020202020204" pitchFamily="34" charset="0"/>
              <a:buChar char="•"/>
            </a:pPr>
            <a:endParaRPr lang="en-US" dirty="0"/>
          </a:p>
        </p:txBody>
      </p:sp>
    </p:spTree>
    <p:extLst>
      <p:ext uri="{BB962C8B-B14F-4D97-AF65-F5344CB8AC3E}">
        <p14:creationId xmlns:p14="http://schemas.microsoft.com/office/powerpoint/2010/main" val="96034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58EBE6-9EBC-D14D-DE9A-91CF298F181E}"/>
              </a:ext>
            </a:extLst>
          </p:cNvPr>
          <p:cNvSpPr>
            <a:spLocks noGrp="1"/>
          </p:cNvSpPr>
          <p:nvPr>
            <p:ph type="title"/>
          </p:nvPr>
        </p:nvSpPr>
        <p:spPr>
          <a:xfrm>
            <a:off x="761800" y="762001"/>
            <a:ext cx="5334197" cy="1708242"/>
          </a:xfrm>
        </p:spPr>
        <p:txBody>
          <a:bodyPr anchor="ctr">
            <a:normAutofit/>
          </a:bodyPr>
          <a:lstStyle/>
          <a:p>
            <a:r>
              <a:rPr lang="en-US" sz="4000"/>
              <a:t>Problem and Goal</a:t>
            </a:r>
          </a:p>
        </p:txBody>
      </p:sp>
      <p:sp>
        <p:nvSpPr>
          <p:cNvPr id="3" name="Content Placeholder 2">
            <a:extLst>
              <a:ext uri="{FF2B5EF4-FFF2-40B4-BE49-F238E27FC236}">
                <a16:creationId xmlns:a16="http://schemas.microsoft.com/office/drawing/2014/main" id="{8D82F94E-07A3-84FC-1605-7F334B2F0B68}"/>
              </a:ext>
            </a:extLst>
          </p:cNvPr>
          <p:cNvSpPr>
            <a:spLocks noGrp="1"/>
          </p:cNvSpPr>
          <p:nvPr>
            <p:ph idx="1"/>
          </p:nvPr>
        </p:nvSpPr>
        <p:spPr>
          <a:xfrm>
            <a:off x="761800" y="2470244"/>
            <a:ext cx="5334197" cy="3769835"/>
          </a:xfrm>
        </p:spPr>
        <p:txBody>
          <a:bodyPr anchor="ctr">
            <a:normAutofit/>
          </a:bodyPr>
          <a:lstStyle/>
          <a:p>
            <a:pPr marL="0" indent="0">
              <a:buNone/>
            </a:pPr>
            <a:r>
              <a:rPr lang="en-US" sz="1400" b="1"/>
              <a:t>Research Question:</a:t>
            </a:r>
          </a:p>
          <a:p>
            <a:pPr marL="0" indent="0">
              <a:buNone/>
            </a:pPr>
            <a:r>
              <a:rPr lang="en-US" sz="1400"/>
              <a:t>What role does the distance of the trip, the time at which the trip was picked up and the number of passengers in the taxi play in determining the fare in New York city? What is the degree of accuracy of such prediction using machine learning?</a:t>
            </a:r>
          </a:p>
          <a:p>
            <a:pPr marL="0" indent="0">
              <a:buNone/>
            </a:pPr>
            <a:endParaRPr lang="en-US" sz="1400"/>
          </a:p>
          <a:p>
            <a:pPr marL="0" indent="0">
              <a:buNone/>
            </a:pPr>
            <a:r>
              <a:rPr lang="en-US" sz="1400" b="1"/>
              <a:t>Why is it important?</a:t>
            </a:r>
          </a:p>
          <a:p>
            <a:pPr marL="0" indent="0">
              <a:buNone/>
            </a:pPr>
            <a:r>
              <a:rPr lang="en-US" sz="1400"/>
              <a:t>The cost of the taxi service depends on different parameters and varies greatly. Through the analysis of numerous taxi trips in NYC we will be able to determine the factors affecting taxi fares and create a model of fare prediction.</a:t>
            </a:r>
          </a:p>
          <a:p>
            <a:pPr marL="0" indent="0">
              <a:buNone/>
            </a:pPr>
            <a:endParaRPr lang="en-US" sz="1300"/>
          </a:p>
          <a:p>
            <a:pPr marL="0" indent="0">
              <a:buNone/>
            </a:pPr>
            <a:r>
              <a:rPr lang="en-US" sz="800"/>
              <a:t>Reference: Rashida048 (2020). Learn to Formulate Good Research Question For Efficient Statistical Analysis. </a:t>
            </a:r>
            <a:r>
              <a:rPr lang="en-US" sz="800">
                <a:hlinkClick r:id="rId2"/>
              </a:rPr>
              <a:t>https://regenerativetoday.com/learn-to-formulate-good-research-question-for-efficient-statistical-analysis/</a:t>
            </a:r>
            <a:endParaRPr lang="en-US" sz="800"/>
          </a:p>
        </p:txBody>
      </p:sp>
      <p:pic>
        <p:nvPicPr>
          <p:cNvPr id="16" name="Picture 15" descr="A taxi cab sign">
            <a:extLst>
              <a:ext uri="{FF2B5EF4-FFF2-40B4-BE49-F238E27FC236}">
                <a16:creationId xmlns:a16="http://schemas.microsoft.com/office/drawing/2014/main" id="{B3C1E996-3888-33CF-2849-9991BC8DC579}"/>
              </a:ext>
            </a:extLst>
          </p:cNvPr>
          <p:cNvPicPr>
            <a:picLocks noChangeAspect="1"/>
          </p:cNvPicPr>
          <p:nvPr/>
        </p:nvPicPr>
        <p:blipFill>
          <a:blip r:embed="rId3"/>
          <a:srcRect l="11856" r="36308"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785751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25119A-CBFE-88B8-195D-04C314ED6410}"/>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Formalization into data mining task </a:t>
            </a:r>
          </a:p>
        </p:txBody>
      </p:sp>
      <p:sp>
        <p:nvSpPr>
          <p:cNvPr id="13" name="Rectangle 12">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CC4EFD0-ED4A-C8ED-D011-02B3DB835EB7}"/>
              </a:ext>
            </a:extLst>
          </p:cNvPr>
          <p:cNvSpPr>
            <a:spLocks noGrp="1"/>
          </p:cNvSpPr>
          <p:nvPr>
            <p:ph idx="1"/>
          </p:nvPr>
        </p:nvSpPr>
        <p:spPr>
          <a:xfrm>
            <a:off x="1155548" y="2217343"/>
            <a:ext cx="9880893" cy="3959619"/>
          </a:xfrm>
        </p:spPr>
        <p:txBody>
          <a:bodyPr>
            <a:normAutofit lnSpcReduction="10000"/>
          </a:bodyPr>
          <a:lstStyle/>
          <a:p>
            <a:pPr marL="0" indent="0">
              <a:buNone/>
            </a:pPr>
            <a:r>
              <a:rPr lang="en-US" sz="1700" b="1"/>
              <a:t>Approach &amp; Methods:</a:t>
            </a:r>
          </a:p>
          <a:p>
            <a:pPr marL="0" indent="0">
              <a:buNone/>
            </a:pPr>
            <a:r>
              <a:rPr lang="en-US" sz="1700"/>
              <a:t>Employ </a:t>
            </a:r>
            <a:r>
              <a:rPr lang="en-US" sz="1700" err="1"/>
              <a:t>PySpark</a:t>
            </a:r>
            <a:r>
              <a:rPr lang="en-US" sz="1700"/>
              <a:t> to clean data, partition it, and perform feature engineering.</a:t>
            </a:r>
          </a:p>
          <a:p>
            <a:pPr marL="0" indent="0">
              <a:buNone/>
            </a:pPr>
            <a:r>
              <a:rPr lang="en-US" sz="1700"/>
              <a:t>Regression: linear regression, Lasso regression, and decision tree regression to predict fares.</a:t>
            </a:r>
          </a:p>
          <a:p>
            <a:pPr marL="0" indent="0">
              <a:buNone/>
            </a:pPr>
            <a:r>
              <a:rPr lang="en-US" sz="1700"/>
              <a:t>Classification: Decision Tree and Logistic Regression classify taxi fares as expensive (above $20) or affordable ($20 or less).</a:t>
            </a:r>
          </a:p>
          <a:p>
            <a:pPr marL="0" indent="0">
              <a:buNone/>
            </a:pPr>
            <a:r>
              <a:rPr lang="en-US" sz="1700"/>
              <a:t>Perform model evaluation using RMSE, MAE, accuracy, and F1-score.</a:t>
            </a:r>
          </a:p>
          <a:p>
            <a:pPr marL="0" indent="0">
              <a:buNone/>
            </a:pPr>
            <a:endParaRPr lang="en-US" sz="1700"/>
          </a:p>
          <a:p>
            <a:pPr marL="0" indent="0">
              <a:buNone/>
            </a:pPr>
            <a:r>
              <a:rPr lang="en-US" sz="1700" b="1"/>
              <a:t>Expected Results:</a:t>
            </a:r>
          </a:p>
          <a:p>
            <a:pPr marL="0" indent="0">
              <a:buNone/>
            </a:pPr>
            <a:r>
              <a:rPr lang="en-US" sz="1700"/>
              <a:t>Determine the factors affecting taxi fares.</a:t>
            </a:r>
          </a:p>
          <a:p>
            <a:pPr marL="0" indent="0">
              <a:buNone/>
            </a:pPr>
            <a:r>
              <a:rPr lang="en-US" sz="1700"/>
              <a:t>Compare the performances of regression and classification models.</a:t>
            </a:r>
          </a:p>
          <a:p>
            <a:pPr marL="0" indent="0">
              <a:buNone/>
            </a:pPr>
            <a:r>
              <a:rPr lang="en-US" sz="1700"/>
              <a:t>Develop a </a:t>
            </a:r>
            <a:r>
              <a:rPr lang="en-US" sz="1700" err="1"/>
              <a:t>Streamlit</a:t>
            </a:r>
            <a:r>
              <a:rPr lang="en-US" sz="1700"/>
              <a:t> dashboard for predicting taxi fares, analyzing historical fare patterns, and comparing ML model performance.</a:t>
            </a:r>
          </a:p>
        </p:txBody>
      </p:sp>
    </p:spTree>
    <p:extLst>
      <p:ext uri="{BB962C8B-B14F-4D97-AF65-F5344CB8AC3E}">
        <p14:creationId xmlns:p14="http://schemas.microsoft.com/office/powerpoint/2010/main" val="932562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00120B-C40B-F6FB-4F79-62B68A3192A0}"/>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Data Plan</a:t>
            </a:r>
          </a:p>
        </p:txBody>
      </p:sp>
      <p:graphicFrame>
        <p:nvGraphicFramePr>
          <p:cNvPr id="5" name="Content Placeholder 2">
            <a:extLst>
              <a:ext uri="{FF2B5EF4-FFF2-40B4-BE49-F238E27FC236}">
                <a16:creationId xmlns:a16="http://schemas.microsoft.com/office/drawing/2014/main" id="{FC9BDED8-DE1F-6908-8F51-4B13D4D2A788}"/>
              </a:ext>
            </a:extLst>
          </p:cNvPr>
          <p:cNvGraphicFramePr>
            <a:graphicFrameLocks noGrp="1"/>
          </p:cNvGraphicFramePr>
          <p:nvPr>
            <p:ph idx="1"/>
            <p:extLst>
              <p:ext uri="{D42A27DB-BD31-4B8C-83A1-F6EECF244321}">
                <p14:modId xmlns:p14="http://schemas.microsoft.com/office/powerpoint/2010/main" val="347763741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2164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BE9750-D375-1BD1-BA80-65E7EDC5B05F}"/>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9422D854-1E72-0CEE-2F39-EC0DF4C864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1"/>
            <a:ext cx="12191990" cy="168864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BC77F0-871A-F2F3-9E75-1A69E407154C}"/>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Teamwork agreement</a:t>
            </a:r>
          </a:p>
        </p:txBody>
      </p:sp>
      <p:sp>
        <p:nvSpPr>
          <p:cNvPr id="22" name="Rectangle 21">
            <a:extLst>
              <a:ext uri="{FF2B5EF4-FFF2-40B4-BE49-F238E27FC236}">
                <a16:creationId xmlns:a16="http://schemas.microsoft.com/office/drawing/2014/main" id="{364136D9-D3FC-D32E-5241-B59D118B56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215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A2DE937B-54BD-8003-59C9-E9A01CECEE5C}"/>
              </a:ext>
            </a:extLst>
          </p:cNvPr>
          <p:cNvSpPr>
            <a:spLocks noGrp="1"/>
          </p:cNvSpPr>
          <p:nvPr>
            <p:ph idx="1"/>
          </p:nvPr>
        </p:nvSpPr>
        <p:spPr/>
        <p:txBody>
          <a:bodyPr/>
          <a:lstStyle/>
          <a:p>
            <a:r>
              <a:rPr lang="en-US" dirty="0"/>
              <a:t>We will use a hybrid of agile and waterfall methods, so we do have a plan with deadlines to follow, but we’re also not restricted from going off the plan.</a:t>
            </a:r>
          </a:p>
          <a:p>
            <a:r>
              <a:rPr lang="en-US" dirty="0"/>
              <a:t>Link to Team Agreement: </a:t>
            </a:r>
            <a:r>
              <a:rPr lang="en-US" dirty="0">
                <a:hlinkClick r:id="rId2"/>
              </a:rPr>
              <a:t>CS483-project/teamAgreement.pdf at main · </a:t>
            </a:r>
            <a:r>
              <a:rPr lang="en-US" dirty="0" err="1">
                <a:hlinkClick r:id="rId2"/>
              </a:rPr>
              <a:t>jzach-rgb</a:t>
            </a:r>
            <a:r>
              <a:rPr lang="en-US" dirty="0">
                <a:hlinkClick r:id="rId2"/>
              </a:rPr>
              <a:t>/CS483-project</a:t>
            </a:r>
            <a:endParaRPr lang="en-US" dirty="0"/>
          </a:p>
          <a:p>
            <a:r>
              <a:rPr lang="en-US" dirty="0"/>
              <a:t>GitHub Repo link: </a:t>
            </a:r>
            <a:r>
              <a:rPr lang="en-US" dirty="0">
                <a:hlinkClick r:id="rId3"/>
              </a:rPr>
              <a:t>https://github.com/jzach-rgb/CS483-project.git</a:t>
            </a:r>
            <a:r>
              <a:rPr lang="en-US" dirty="0"/>
              <a:t> </a:t>
            </a:r>
          </a:p>
          <a:p>
            <a:r>
              <a:rPr lang="en-US" dirty="0"/>
              <a:t>For this project, the project management too that we will be using is Jira.</a:t>
            </a:r>
          </a:p>
        </p:txBody>
      </p:sp>
    </p:spTree>
    <p:extLst>
      <p:ext uri="{BB962C8B-B14F-4D97-AF65-F5344CB8AC3E}">
        <p14:creationId xmlns:p14="http://schemas.microsoft.com/office/powerpoint/2010/main" val="8516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1"/>
            <a:ext cx="12191990" cy="168864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96507-724C-FAA4-9EED-688E9254ED6B}"/>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Schedule</a:t>
            </a:r>
          </a:p>
        </p:txBody>
      </p:sp>
      <p:sp>
        <p:nvSpPr>
          <p:cNvPr id="22" name="Rectangle 2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215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2DA0FE4B-6416-AF6B-D9E0-EAF68F7716E7}"/>
              </a:ext>
            </a:extLst>
          </p:cNvPr>
          <p:cNvGraphicFramePr>
            <a:graphicFrameLocks noGrp="1"/>
          </p:cNvGraphicFramePr>
          <p:nvPr>
            <p:ph idx="1"/>
            <p:extLst>
              <p:ext uri="{D42A27DB-BD31-4B8C-83A1-F6EECF244321}">
                <p14:modId xmlns:p14="http://schemas.microsoft.com/office/powerpoint/2010/main" val="519425714"/>
              </p:ext>
            </p:extLst>
          </p:nvPr>
        </p:nvGraphicFramePr>
        <p:xfrm>
          <a:off x="2140316" y="2261336"/>
          <a:ext cx="7920274" cy="3907480"/>
        </p:xfrm>
        <a:graphic>
          <a:graphicData uri="http://schemas.openxmlformats.org/drawingml/2006/table">
            <a:tbl>
              <a:tblPr firstRow="1" bandRow="1">
                <a:noFill/>
                <a:tableStyleId>{073A0DAA-6AF3-43AB-8588-CEC1D06C72B9}</a:tableStyleId>
              </a:tblPr>
              <a:tblGrid>
                <a:gridCol w="1266859">
                  <a:extLst>
                    <a:ext uri="{9D8B030D-6E8A-4147-A177-3AD203B41FA5}">
                      <a16:colId xmlns:a16="http://schemas.microsoft.com/office/drawing/2014/main" val="2826365054"/>
                    </a:ext>
                  </a:extLst>
                </a:gridCol>
                <a:gridCol w="2654908">
                  <a:extLst>
                    <a:ext uri="{9D8B030D-6E8A-4147-A177-3AD203B41FA5}">
                      <a16:colId xmlns:a16="http://schemas.microsoft.com/office/drawing/2014/main" val="1553133992"/>
                    </a:ext>
                  </a:extLst>
                </a:gridCol>
                <a:gridCol w="3998507">
                  <a:extLst>
                    <a:ext uri="{9D8B030D-6E8A-4147-A177-3AD203B41FA5}">
                      <a16:colId xmlns:a16="http://schemas.microsoft.com/office/drawing/2014/main" val="3397757054"/>
                    </a:ext>
                  </a:extLst>
                </a:gridCol>
              </a:tblGrid>
              <a:tr h="499492">
                <a:tc>
                  <a:txBody>
                    <a:bodyPr/>
                    <a:lstStyle/>
                    <a:p>
                      <a:r>
                        <a:rPr lang="en-US" sz="1500">
                          <a:solidFill>
                            <a:schemeClr val="tx1">
                              <a:lumMod val="75000"/>
                              <a:lumOff val="25000"/>
                            </a:schemeClr>
                          </a:solidFill>
                        </a:rPr>
                        <a:t>Date</a:t>
                      </a:r>
                    </a:p>
                  </a:txBody>
                  <a:tcPr marL="195114" marR="117068" marT="117068" marB="117068">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r>
                        <a:rPr lang="en-US" sz="1500">
                          <a:solidFill>
                            <a:schemeClr val="tx1">
                              <a:lumMod val="75000"/>
                              <a:lumOff val="25000"/>
                            </a:schemeClr>
                          </a:solidFill>
                        </a:rPr>
                        <a:t>Milestone</a:t>
                      </a:r>
                    </a:p>
                  </a:txBody>
                  <a:tcPr marL="195114" marR="117068" marT="117068" marB="117068">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r>
                        <a:rPr lang="en-US" sz="1500">
                          <a:solidFill>
                            <a:schemeClr val="tx1">
                              <a:lumMod val="75000"/>
                              <a:lumOff val="25000"/>
                            </a:schemeClr>
                          </a:solidFill>
                        </a:rPr>
                        <a:t>Deliverables</a:t>
                      </a:r>
                    </a:p>
                  </a:txBody>
                  <a:tcPr marL="195114" marR="117068" marT="117068" marB="117068">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3026390412"/>
                  </a:ext>
                </a:extLst>
              </a:tr>
              <a:tr h="416243">
                <a:tc>
                  <a:txBody>
                    <a:bodyPr/>
                    <a:lstStyle/>
                    <a:p>
                      <a:r>
                        <a:rPr lang="en-US" sz="1200">
                          <a:solidFill>
                            <a:schemeClr val="tx1">
                              <a:lumMod val="75000"/>
                              <a:lumOff val="25000"/>
                            </a:schemeClr>
                          </a:solidFill>
                        </a:rPr>
                        <a:t>Oct 13</a:t>
                      </a:r>
                    </a:p>
                  </a:txBody>
                  <a:tcPr marL="195114" marR="101459" marT="101459" marB="101459">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Project Proposal</a:t>
                      </a:r>
                    </a:p>
                  </a:txBody>
                  <a:tcPr marL="195114" marR="101459" marT="101459" marB="101459">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Finalize research questions, dataset, and project plan.</a:t>
                      </a:r>
                    </a:p>
                  </a:txBody>
                  <a:tcPr marL="195114" marR="101459" marT="101459" marB="101459">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508075571"/>
                  </a:ext>
                </a:extLst>
              </a:tr>
              <a:tr h="598349">
                <a:tc>
                  <a:txBody>
                    <a:bodyPr/>
                    <a:lstStyle/>
                    <a:p>
                      <a:r>
                        <a:rPr lang="en-US" sz="1200">
                          <a:solidFill>
                            <a:schemeClr val="tx1">
                              <a:lumMod val="75000"/>
                              <a:lumOff val="25000"/>
                            </a:schemeClr>
                          </a:solidFill>
                        </a:rPr>
                        <a:t>Oct 27</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Data Preparation</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Clean data, calculate trip distances, and partition data using PySpark.</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643800631"/>
                  </a:ext>
                </a:extLst>
              </a:tr>
              <a:tr h="598349">
                <a:tc>
                  <a:txBody>
                    <a:bodyPr/>
                    <a:lstStyle/>
                    <a:p>
                      <a:r>
                        <a:rPr lang="en-US" sz="1200">
                          <a:solidFill>
                            <a:schemeClr val="tx1">
                              <a:lumMod val="75000"/>
                              <a:lumOff val="25000"/>
                            </a:schemeClr>
                          </a:solidFill>
                        </a:rPr>
                        <a:t>Nov 8</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Intermediate Report</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Submit progress report, initial analysis, and preliminary ML results.</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4012927973"/>
                  </a:ext>
                </a:extLst>
              </a:tr>
              <a:tr h="598349">
                <a:tc>
                  <a:txBody>
                    <a:bodyPr/>
                    <a:lstStyle/>
                    <a:p>
                      <a:r>
                        <a:rPr lang="en-US" sz="1200">
                          <a:solidFill>
                            <a:schemeClr val="tx1">
                              <a:lumMod val="75000"/>
                              <a:lumOff val="25000"/>
                            </a:schemeClr>
                          </a:solidFill>
                        </a:rPr>
                        <a:t>Nov 24</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Model Development</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Complete regression and classification models, compare performance, and build dashboard.</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873809091"/>
                  </a:ext>
                </a:extLst>
              </a:tr>
              <a:tr h="598349">
                <a:tc>
                  <a:txBody>
                    <a:bodyPr/>
                    <a:lstStyle/>
                    <a:p>
                      <a:r>
                        <a:rPr lang="en-US" sz="1200">
                          <a:solidFill>
                            <a:schemeClr val="tx1">
                              <a:lumMod val="75000"/>
                              <a:lumOff val="25000"/>
                            </a:schemeClr>
                          </a:solidFill>
                        </a:rPr>
                        <a:t>Dec 1</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Final Presentation</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Present results and demonstrate the fare prediction dashboard.</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989330912"/>
                  </a:ext>
                </a:extLst>
              </a:tr>
              <a:tr h="598349">
                <a:tc>
                  <a:txBody>
                    <a:bodyPr/>
                    <a:lstStyle/>
                    <a:p>
                      <a:r>
                        <a:rPr lang="en-US" sz="1200">
                          <a:solidFill>
                            <a:schemeClr val="tx1">
                              <a:lumMod val="75000"/>
                              <a:lumOff val="25000"/>
                            </a:schemeClr>
                          </a:solidFill>
                        </a:rPr>
                        <a:t>Dec 6</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Final Report</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Submit final report, code, dataset, and evaluation results.</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485054564"/>
                  </a:ext>
                </a:extLst>
              </a:tr>
            </a:tbl>
          </a:graphicData>
        </a:graphic>
      </p:graphicFrame>
    </p:spTree>
    <p:extLst>
      <p:ext uri="{BB962C8B-B14F-4D97-AF65-F5344CB8AC3E}">
        <p14:creationId xmlns:p14="http://schemas.microsoft.com/office/powerpoint/2010/main" val="1370016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536</Words>
  <Application>Microsoft Office PowerPoint</Application>
  <PresentationFormat>Widescreen</PresentationFormat>
  <Paragraphs>61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Milestone 1 Proposal</vt:lpstr>
      <vt:lpstr>Problem and Goal</vt:lpstr>
      <vt:lpstr>Formalization into data mining task </vt:lpstr>
      <vt:lpstr>Data Plan</vt:lpstr>
      <vt:lpstr>Teamwork agreement</vt:lpstr>
      <vt:lpstr>Schedule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Khan, Muhammad</dc:creator>
  <cp:lastModifiedBy>Joshua Zacharias</cp:lastModifiedBy>
  <cp:revision>1</cp:revision>
  <dcterms:created xsi:type="dcterms:W3CDTF">2026-10-16T15:46:03Z</dcterms:created>
  <dcterms:modified xsi:type="dcterms:W3CDTF">2026-10-27T17:10:25Z</dcterms:modified>
</cp:coreProperties>
</file>